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6" roundtripDataSignature="AMtx7miqskJ4XiTv/8G1amg7gtlZNT7f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kaggle.com/code/hasibalmuzdadid/fire-alarm-triggering-analysis-accuracy-100/noteboo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hyperlink" Target="http://drive.google.com/file/d/1PZz9TOFEt5f6AFdRRdKgYkkpUKMyFfi1/view" TargetMode="External"/><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mailto:sivabhargav2008@gmail.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571475" y="200175"/>
            <a:ext cx="8256300" cy="1822200"/>
          </a:xfrm>
          <a:prstGeom prst="rect">
            <a:avLst/>
          </a:prstGeom>
          <a:solidFill>
            <a:srgbClr val="F1EDA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000" u="sng" cap="none" strike="noStrike">
                <a:solidFill>
                  <a:schemeClr val="dk1"/>
                </a:solidFill>
                <a:latin typeface="Calibri"/>
                <a:ea typeface="Calibri"/>
                <a:cs typeface="Calibri"/>
                <a:sym typeface="Calibri"/>
              </a:rPr>
              <a:t>Advance Internship@Clevered</a:t>
            </a:r>
            <a:br>
              <a:rPr b="1" i="0" lang="en-IN" sz="4400" u="none" cap="none" strike="noStrike">
                <a:solidFill>
                  <a:schemeClr val="dk1"/>
                </a:solidFill>
                <a:latin typeface="Calibri"/>
                <a:ea typeface="Calibri"/>
                <a:cs typeface="Calibri"/>
                <a:sym typeface="Calibri"/>
              </a:rPr>
            </a:br>
            <a:r>
              <a:rPr b="1" lang="en-IN" sz="4400">
                <a:solidFill>
                  <a:schemeClr val="dk1"/>
                </a:solidFill>
                <a:latin typeface="Calibri"/>
                <a:ea typeface="Calibri"/>
                <a:cs typeface="Calibri"/>
                <a:sym typeface="Calibri"/>
              </a:rPr>
              <a:t>Fire Risk Prediction and Alert System</a:t>
            </a:r>
            <a:endParaRPr b="0" i="0" sz="4400" u="none" cap="none" strike="noStrike">
              <a:solidFill>
                <a:schemeClr val="dk1"/>
              </a:solidFill>
              <a:latin typeface="Calibri"/>
              <a:ea typeface="Calibri"/>
              <a:cs typeface="Calibri"/>
              <a:sym typeface="Calibri"/>
            </a:endParaRPr>
          </a:p>
        </p:txBody>
      </p:sp>
      <p:sp>
        <p:nvSpPr>
          <p:cNvPr id="85" name="Google Shape;85;p1"/>
          <p:cNvSpPr txBox="1"/>
          <p:nvPr>
            <p:ph idx="1" type="subTitle"/>
          </p:nvPr>
        </p:nvSpPr>
        <p:spPr>
          <a:xfrm>
            <a:off x="4572000" y="6072206"/>
            <a:ext cx="4572032" cy="785818"/>
          </a:xfrm>
          <a:prstGeom prst="rect">
            <a:avLst/>
          </a:prstGeom>
          <a:gradFill>
            <a:gsLst>
              <a:gs pos="0">
                <a:srgbClr val="5E9EFF"/>
              </a:gs>
              <a:gs pos="39999">
                <a:srgbClr val="85C2FF"/>
              </a:gs>
              <a:gs pos="70000">
                <a:srgbClr val="C4D6EB"/>
              </a:gs>
              <a:gs pos="100000">
                <a:srgbClr val="FFEBFA"/>
              </a:gs>
            </a:gsLst>
            <a:lin ang="162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None/>
            </a:pPr>
            <a:r>
              <a:rPr b="1" lang="en-IN">
                <a:solidFill>
                  <a:schemeClr val="dk1"/>
                </a:solidFill>
              </a:rPr>
              <a:t>Author: Sivabhargav GV </a:t>
            </a:r>
            <a:endParaRPr b="1">
              <a:solidFill>
                <a:schemeClr val="dk1"/>
              </a:solidFill>
            </a:endParaRPr>
          </a:p>
        </p:txBody>
      </p:sp>
      <p:sp>
        <p:nvSpPr>
          <p:cNvPr id="86" name="Google Shape;86;p1"/>
          <p:cNvSpPr txBox="1"/>
          <p:nvPr/>
        </p:nvSpPr>
        <p:spPr>
          <a:xfrm>
            <a:off x="1457348" y="2357430"/>
            <a:ext cx="6400800" cy="785818"/>
          </a:xfrm>
          <a:prstGeom prst="rect">
            <a:avLst/>
          </a:prstGeom>
          <a:gradFill>
            <a:gsLst>
              <a:gs pos="0">
                <a:srgbClr val="5E9EFF"/>
              </a:gs>
              <a:gs pos="39999">
                <a:srgbClr val="85C2FF"/>
              </a:gs>
              <a:gs pos="70000">
                <a:srgbClr val="C4D6EB"/>
              </a:gs>
              <a:gs pos="100000">
                <a:srgbClr val="FFEBFA"/>
              </a:gs>
            </a:gsLst>
            <a:lin ang="5400000" scaled="0"/>
          </a:gradFill>
          <a:ln cap="flat" cmpd="sng" w="9525">
            <a:solidFill>
              <a:srgbClr val="0070C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3600"/>
              <a:buFont typeface="Arial"/>
              <a:buNone/>
            </a:pPr>
            <a:r>
              <a:rPr b="1" i="0" lang="en-IN" sz="3600" u="none" cap="none" strike="noStrike">
                <a:solidFill>
                  <a:schemeClr val="dk1"/>
                </a:solidFill>
                <a:latin typeface="Calibri"/>
                <a:ea typeface="Calibri"/>
                <a:cs typeface="Calibri"/>
                <a:sym typeface="Calibri"/>
              </a:rPr>
              <a:t>App User Manual</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1958622"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800" u="none" cap="none" strike="noStrike">
                <a:solidFill>
                  <a:schemeClr val="dk1"/>
                </a:solidFill>
                <a:latin typeface="Calibri"/>
                <a:ea typeface="Calibri"/>
                <a:cs typeface="Calibri"/>
                <a:sym typeface="Calibri"/>
              </a:rPr>
              <a:t>Table of Contents</a:t>
            </a:r>
            <a:endParaRPr/>
          </a:p>
        </p:txBody>
      </p:sp>
      <p:sp>
        <p:nvSpPr>
          <p:cNvPr id="92" name="Google Shape;92;p2"/>
          <p:cNvSpPr txBox="1"/>
          <p:nvPr>
            <p:ph idx="1" type="body"/>
          </p:nvPr>
        </p:nvSpPr>
        <p:spPr>
          <a:xfrm>
            <a:off x="457200" y="2071678"/>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IN">
                <a:solidFill>
                  <a:schemeClr val="lt1"/>
                </a:solidFill>
              </a:rPr>
              <a:t>Acknowledgements</a:t>
            </a:r>
            <a:endParaRPr b="1">
              <a:solidFill>
                <a:schemeClr val="lt1"/>
              </a:solidFill>
            </a:endParaRPr>
          </a:p>
          <a:p>
            <a:pPr indent="0" lvl="0" marL="0" rtl="0" algn="l">
              <a:spcBef>
                <a:spcPts val="0"/>
              </a:spcBef>
              <a:spcAft>
                <a:spcPts val="0"/>
              </a:spcAft>
              <a:buNone/>
            </a:pPr>
            <a:r>
              <a:rPr b="1" lang="en-IN">
                <a:solidFill>
                  <a:schemeClr val="lt1"/>
                </a:solidFill>
              </a:rPr>
              <a:t>About Me</a:t>
            </a:r>
            <a:endParaRPr b="1">
              <a:solidFill>
                <a:schemeClr val="lt1"/>
              </a:solidFill>
            </a:endParaRPr>
          </a:p>
          <a:p>
            <a:pPr indent="0" lvl="0" marL="0" rtl="0" algn="l">
              <a:spcBef>
                <a:spcPts val="0"/>
              </a:spcBef>
              <a:spcAft>
                <a:spcPts val="0"/>
              </a:spcAft>
              <a:buNone/>
            </a:pPr>
            <a:r>
              <a:rPr b="1" lang="en-IN">
                <a:solidFill>
                  <a:schemeClr val="lt1"/>
                </a:solidFill>
              </a:rPr>
              <a:t>About my Internship with Clevered</a:t>
            </a:r>
            <a:endParaRPr b="1">
              <a:solidFill>
                <a:schemeClr val="lt1"/>
              </a:solidFill>
            </a:endParaRPr>
          </a:p>
          <a:p>
            <a:pPr indent="0" lvl="0" marL="0" rtl="0" algn="l">
              <a:spcBef>
                <a:spcPts val="0"/>
              </a:spcBef>
              <a:spcAft>
                <a:spcPts val="0"/>
              </a:spcAft>
              <a:buNone/>
            </a:pPr>
            <a:r>
              <a:rPr b="1" lang="en-IN">
                <a:solidFill>
                  <a:schemeClr val="lt1"/>
                </a:solidFill>
              </a:rPr>
              <a:t>About App</a:t>
            </a:r>
            <a:endParaRPr b="1">
              <a:solidFill>
                <a:schemeClr val="lt1"/>
              </a:solidFill>
            </a:endParaRPr>
          </a:p>
          <a:p>
            <a:pPr indent="0" lvl="0" marL="0" rtl="0" algn="l">
              <a:spcBef>
                <a:spcPts val="0"/>
              </a:spcBef>
              <a:spcAft>
                <a:spcPts val="0"/>
              </a:spcAft>
              <a:buNone/>
            </a:pPr>
            <a:r>
              <a:rPr b="1" lang="en-IN">
                <a:solidFill>
                  <a:schemeClr val="lt1"/>
                </a:solidFill>
              </a:rPr>
              <a:t>How to use the app</a:t>
            </a:r>
            <a:endParaRPr b="1">
              <a:solidFill>
                <a:schemeClr val="lt1"/>
              </a:solidFill>
            </a:endParaRPr>
          </a:p>
          <a:p>
            <a:pPr indent="0" lvl="0" marL="0" rtl="0" algn="l">
              <a:spcBef>
                <a:spcPts val="0"/>
              </a:spcBef>
              <a:spcAft>
                <a:spcPts val="0"/>
              </a:spcAft>
              <a:buNone/>
            </a:pPr>
            <a:r>
              <a:rPr b="1" lang="en-IN">
                <a:solidFill>
                  <a:schemeClr val="lt1"/>
                </a:solidFill>
              </a:rPr>
              <a:t>Options</a:t>
            </a:r>
            <a:endParaRPr b="1">
              <a:solidFill>
                <a:schemeClr val="lt1"/>
              </a:solidFill>
            </a:endParaRPr>
          </a:p>
          <a:p>
            <a:pPr indent="0" lvl="0" marL="0" rtl="0" algn="l">
              <a:spcBef>
                <a:spcPts val="0"/>
              </a:spcBef>
              <a:spcAft>
                <a:spcPts val="0"/>
              </a:spcAft>
              <a:buNone/>
            </a:pPr>
            <a:r>
              <a:rPr b="1" lang="en-IN">
                <a:solidFill>
                  <a:schemeClr val="lt1"/>
                </a:solidFill>
              </a:rPr>
              <a:t>Contact details</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t/>
            </a: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Acknowledgements</a:t>
            </a:r>
            <a:endParaRPr/>
          </a:p>
        </p:txBody>
      </p:sp>
      <p:sp>
        <p:nvSpPr>
          <p:cNvPr id="98" name="Google Shape;98;p3"/>
          <p:cNvSpPr txBox="1"/>
          <p:nvPr>
            <p:ph idx="1" type="body"/>
          </p:nvPr>
        </p:nvSpPr>
        <p:spPr>
          <a:xfrm>
            <a:off x="457200" y="1785926"/>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12420" lvl="0" marL="342900" rtl="0" algn="l">
              <a:spcBef>
                <a:spcPts val="0"/>
              </a:spcBef>
              <a:spcAft>
                <a:spcPts val="0"/>
              </a:spcAft>
              <a:buClr>
                <a:schemeClr val="lt1"/>
              </a:buClr>
              <a:buSzPct val="100000"/>
              <a:buChar char="•"/>
            </a:pPr>
            <a:r>
              <a:rPr b="1" lang="en-IN">
                <a:solidFill>
                  <a:schemeClr val="lt1"/>
                </a:solidFill>
              </a:rPr>
              <a:t>I would like to express my sincere gratitude to Clevered, my mentor Mrs. Mani Mehrotra, and Dr Ken for providing me the opportunity and platform to develop new AI skills and learn app development. Their guidance throughout this internship has helped me to complete my project and improve my knowledge regarding real-life applications of coding.</a:t>
            </a:r>
            <a:endParaRPr b="1">
              <a:solidFill>
                <a:schemeClr val="lt1"/>
              </a:solidFill>
            </a:endParaRPr>
          </a:p>
          <a:p>
            <a:pPr indent="-236855" lvl="0" marL="342900" rtl="0" algn="l">
              <a:spcBef>
                <a:spcPts val="0"/>
              </a:spcBef>
              <a:spcAft>
                <a:spcPts val="0"/>
              </a:spcAft>
              <a:buClr>
                <a:schemeClr val="lt1"/>
              </a:buClr>
              <a:buSzPct val="56250"/>
              <a:buChar char="•"/>
            </a:pPr>
            <a:r>
              <a:rPr b="1" lang="en-IN" u="sng">
                <a:solidFill>
                  <a:schemeClr val="hlink"/>
                </a:solidFill>
                <a:hlinkClick r:id="rId3"/>
              </a:rPr>
              <a:t>https://www.kaggle.com/code/hasibalmuzdadid/fire-alarm-triggering-analysis-accuracy-100/notebook</a:t>
            </a:r>
            <a:r>
              <a:rPr b="1" lang="en-IN">
                <a:solidFill>
                  <a:schemeClr val="lt1"/>
                </a:solidFill>
              </a:rPr>
              <a:t> was the website recommended to me, and I used it as a reference for my project as well as for downloading the large training dataset. </a:t>
            </a:r>
            <a:endParaRPr b="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Me..</a:t>
            </a:r>
            <a:endParaRPr/>
          </a:p>
        </p:txBody>
      </p:sp>
      <p:sp>
        <p:nvSpPr>
          <p:cNvPr id="104" name="Google Shape;104;p4"/>
          <p:cNvSpPr txBox="1"/>
          <p:nvPr>
            <p:ph idx="1" type="body"/>
          </p:nvPr>
        </p:nvSpPr>
        <p:spPr>
          <a:xfrm>
            <a:off x="197275" y="1791675"/>
            <a:ext cx="4105500" cy="5066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solidFill>
                <a:schemeClr val="lt1"/>
              </a:solidFill>
            </a:endParaRPr>
          </a:p>
        </p:txBody>
      </p:sp>
      <p:pic>
        <p:nvPicPr>
          <p:cNvPr id="105" name="Google Shape;105;p4"/>
          <p:cNvPicPr preferRelativeResize="0"/>
          <p:nvPr/>
        </p:nvPicPr>
        <p:blipFill>
          <a:blip r:embed="rId3">
            <a:alphaModFix/>
          </a:blip>
          <a:stretch>
            <a:fillRect/>
          </a:stretch>
        </p:blipFill>
        <p:spPr>
          <a:xfrm>
            <a:off x="197275" y="1791675"/>
            <a:ext cx="4105549" cy="4932199"/>
          </a:xfrm>
          <a:prstGeom prst="rect">
            <a:avLst/>
          </a:prstGeom>
          <a:noFill/>
          <a:ln>
            <a:noFill/>
          </a:ln>
        </p:spPr>
      </p:pic>
      <p:sp>
        <p:nvSpPr>
          <p:cNvPr id="106" name="Google Shape;106;p4"/>
          <p:cNvSpPr txBox="1"/>
          <p:nvPr/>
        </p:nvSpPr>
        <p:spPr>
          <a:xfrm>
            <a:off x="4302825" y="1918800"/>
            <a:ext cx="48702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3200">
                <a:solidFill>
                  <a:schemeClr val="lt1"/>
                </a:solidFill>
                <a:latin typeface="Calibri"/>
                <a:ea typeface="Calibri"/>
                <a:cs typeface="Calibri"/>
                <a:sym typeface="Calibri"/>
              </a:rPr>
              <a:t>My name is Sivabhargav GV,</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IN" sz="3200">
                <a:solidFill>
                  <a:schemeClr val="lt1"/>
                </a:solidFill>
                <a:latin typeface="Calibri"/>
                <a:ea typeface="Calibri"/>
                <a:cs typeface="Calibri"/>
                <a:sym typeface="Calibri"/>
              </a:rPr>
              <a:t>and I am a class XII student studying in DPS Gurgaon Sector-45. I like to build projects that apply technology to solve practical real-world problems through coding and other AI related tools.</a:t>
            </a:r>
            <a:endParaRPr sz="32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p:nvPr/>
        </p:nvSpPr>
        <p:spPr>
          <a:xfrm>
            <a:off x="755575" y="279175"/>
            <a:ext cx="7632900" cy="8211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3600" u="none" cap="none" strike="noStrike">
                <a:solidFill>
                  <a:schemeClr val="dk1"/>
                </a:solidFill>
                <a:latin typeface="Calibri"/>
                <a:ea typeface="Calibri"/>
                <a:cs typeface="Calibri"/>
                <a:sym typeface="Calibri"/>
              </a:rPr>
              <a:t>About My Internship with Clevered..</a:t>
            </a:r>
            <a:endParaRPr/>
          </a:p>
        </p:txBody>
      </p:sp>
      <p:sp>
        <p:nvSpPr>
          <p:cNvPr id="112" name="Google Shape;112;p5"/>
          <p:cNvSpPr txBox="1"/>
          <p:nvPr>
            <p:ph idx="1" type="body"/>
          </p:nvPr>
        </p:nvSpPr>
        <p:spPr>
          <a:xfrm>
            <a:off x="457200" y="1600200"/>
            <a:ext cx="3686172"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t/>
            </a:r>
            <a:endParaRPr b="1">
              <a:solidFill>
                <a:schemeClr val="lt1"/>
              </a:solidFill>
            </a:endParaRPr>
          </a:p>
        </p:txBody>
      </p:sp>
      <p:sp>
        <p:nvSpPr>
          <p:cNvPr id="113" name="Google Shape;113;p5"/>
          <p:cNvSpPr txBox="1"/>
          <p:nvPr/>
        </p:nvSpPr>
        <p:spPr>
          <a:xfrm>
            <a:off x="4509400" y="1245325"/>
            <a:ext cx="4446300" cy="532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40"/>
              </a:spcBef>
              <a:spcAft>
                <a:spcPts val="0"/>
              </a:spcAft>
              <a:buNone/>
            </a:pPr>
            <a:r>
              <a:rPr b="1" lang="en-IN" sz="2300">
                <a:solidFill>
                  <a:schemeClr val="lt1"/>
                </a:solidFill>
                <a:latin typeface="Calibri"/>
                <a:ea typeface="Calibri"/>
                <a:cs typeface="Calibri"/>
                <a:sym typeface="Calibri"/>
              </a:rPr>
              <a:t>My internship with </a:t>
            </a:r>
            <a:r>
              <a:rPr b="1" lang="en-IN" sz="2300">
                <a:solidFill>
                  <a:schemeClr val="lt1"/>
                </a:solidFill>
                <a:latin typeface="Calibri"/>
                <a:ea typeface="Calibri"/>
                <a:cs typeface="Calibri"/>
                <a:sym typeface="Calibri"/>
              </a:rPr>
              <a:t>clevered helped me to understand the practical applications of AI,for example, the use of gTTs feature in python to convert text-to-speech,user interface development using ipywidgets etc.</a:t>
            </a:r>
            <a:endParaRPr b="1" sz="2300">
              <a:solidFill>
                <a:schemeClr val="lt1"/>
              </a:solidFill>
              <a:latin typeface="Calibri"/>
              <a:ea typeface="Calibri"/>
              <a:cs typeface="Calibri"/>
              <a:sym typeface="Calibri"/>
            </a:endParaRPr>
          </a:p>
          <a:p>
            <a:pPr indent="0" lvl="0" marL="0" marR="0" rtl="0" algn="l">
              <a:lnSpc>
                <a:spcPct val="100000"/>
              </a:lnSpc>
              <a:spcBef>
                <a:spcPts val="640"/>
              </a:spcBef>
              <a:spcAft>
                <a:spcPts val="0"/>
              </a:spcAft>
              <a:buNone/>
            </a:pPr>
            <a:r>
              <a:rPr b="1" lang="en-IN" sz="2300">
                <a:solidFill>
                  <a:schemeClr val="lt1"/>
                </a:solidFill>
                <a:latin typeface="Calibri"/>
                <a:ea typeface="Calibri"/>
                <a:cs typeface="Calibri"/>
                <a:sym typeface="Calibri"/>
              </a:rPr>
              <a:t>Throughout this internship, I learned dataset processing, model training, UI development and additional use of python libraries.</a:t>
            </a:r>
            <a:endParaRPr b="1" sz="2300">
              <a:solidFill>
                <a:schemeClr val="lt1"/>
              </a:solidFill>
              <a:latin typeface="Calibri"/>
              <a:ea typeface="Calibri"/>
              <a:cs typeface="Calibri"/>
              <a:sym typeface="Calibri"/>
            </a:endParaRPr>
          </a:p>
          <a:p>
            <a:pPr indent="0" lvl="0" marL="0" marR="0" rtl="0" algn="l">
              <a:lnSpc>
                <a:spcPct val="100000"/>
              </a:lnSpc>
              <a:spcBef>
                <a:spcPts val="640"/>
              </a:spcBef>
              <a:spcAft>
                <a:spcPts val="0"/>
              </a:spcAft>
              <a:buNone/>
            </a:pPr>
            <a:r>
              <a:rPr b="1" lang="en-IN" sz="2300">
                <a:solidFill>
                  <a:schemeClr val="lt1"/>
                </a:solidFill>
                <a:latin typeface="Calibri"/>
                <a:ea typeface="Calibri"/>
                <a:cs typeface="Calibri"/>
                <a:sym typeface="Calibri"/>
              </a:rPr>
              <a:t>I successfully completed the internship project and learning activities conducted by Clevered. </a:t>
            </a:r>
            <a:endParaRPr b="1" sz="2300">
              <a:solidFill>
                <a:schemeClr val="lt1"/>
              </a:solidFill>
              <a:latin typeface="Calibri"/>
              <a:ea typeface="Calibri"/>
              <a:cs typeface="Calibri"/>
              <a:sym typeface="Calibri"/>
            </a:endParaRPr>
          </a:p>
          <a:p>
            <a:pPr indent="0" lvl="0" marL="0" marR="0" rtl="0" algn="l">
              <a:lnSpc>
                <a:spcPct val="100000"/>
              </a:lnSpc>
              <a:spcBef>
                <a:spcPts val="640"/>
              </a:spcBef>
              <a:spcAft>
                <a:spcPts val="0"/>
              </a:spcAft>
              <a:buNone/>
            </a:pPr>
            <a:r>
              <a:t/>
            </a:r>
            <a:endParaRPr b="1" sz="2300">
              <a:solidFill>
                <a:schemeClr val="lt1"/>
              </a:solidFill>
              <a:latin typeface="Calibri"/>
              <a:ea typeface="Calibri"/>
              <a:cs typeface="Calibri"/>
              <a:sym typeface="Calibri"/>
            </a:endParaRPr>
          </a:p>
        </p:txBody>
      </p:sp>
      <p:pic>
        <p:nvPicPr>
          <p:cNvPr id="114" name="Google Shape;114;p5"/>
          <p:cNvPicPr preferRelativeResize="0"/>
          <p:nvPr/>
        </p:nvPicPr>
        <p:blipFill>
          <a:blip r:embed="rId3">
            <a:alphaModFix/>
          </a:blip>
          <a:stretch>
            <a:fillRect/>
          </a:stretch>
        </p:blipFill>
        <p:spPr>
          <a:xfrm>
            <a:off x="151150" y="1245337"/>
            <a:ext cx="4205976" cy="2583827"/>
          </a:xfrm>
          <a:prstGeom prst="rect">
            <a:avLst/>
          </a:prstGeom>
          <a:noFill/>
          <a:ln>
            <a:noFill/>
          </a:ln>
        </p:spPr>
      </p:pic>
      <p:pic>
        <p:nvPicPr>
          <p:cNvPr id="115" name="Google Shape;115;p5"/>
          <p:cNvPicPr preferRelativeResize="0"/>
          <p:nvPr/>
        </p:nvPicPr>
        <p:blipFill>
          <a:blip r:embed="rId4">
            <a:alphaModFix/>
          </a:blip>
          <a:stretch>
            <a:fillRect/>
          </a:stretch>
        </p:blipFill>
        <p:spPr>
          <a:xfrm>
            <a:off x="151150" y="3974225"/>
            <a:ext cx="4205976" cy="2693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p:nvPr/>
        </p:nvSpPr>
        <p:spPr>
          <a:xfrm>
            <a:off x="1835696" y="404664"/>
            <a:ext cx="5256584" cy="936104"/>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About App..</a:t>
            </a:r>
            <a:endParaRPr/>
          </a:p>
        </p:txBody>
      </p:sp>
      <p:sp>
        <p:nvSpPr>
          <p:cNvPr id="121" name="Google Shape;121;p6"/>
          <p:cNvSpPr txBox="1"/>
          <p:nvPr>
            <p:ph idx="1" type="body"/>
          </p:nvPr>
        </p:nvSpPr>
        <p:spPr>
          <a:xfrm>
            <a:off x="416025" y="1600200"/>
            <a:ext cx="4269600" cy="51111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15000"/>
              </a:lnSpc>
              <a:spcBef>
                <a:spcPts val="1200"/>
              </a:spcBef>
              <a:spcAft>
                <a:spcPts val="0"/>
              </a:spcAft>
              <a:buNone/>
            </a:pPr>
            <a:r>
              <a:rPr b="1" lang="en-IN" sz="2900">
                <a:solidFill>
                  <a:schemeClr val="lt1"/>
                </a:solidFill>
              </a:rPr>
              <a:t>       </a:t>
            </a:r>
            <a:r>
              <a:rPr b="1" lang="en-IN" sz="4162" u="sng">
                <a:solidFill>
                  <a:schemeClr val="lt1"/>
                </a:solidFill>
              </a:rPr>
              <a:t>App’s Main Menu</a:t>
            </a:r>
            <a:endParaRPr b="1" sz="4162" u="sng">
              <a:solidFill>
                <a:schemeClr val="lt1"/>
              </a:solidFill>
            </a:endParaRPr>
          </a:p>
          <a:p>
            <a:pPr indent="0" lvl="0" marL="0" rtl="0" algn="l">
              <a:lnSpc>
                <a:spcPct val="115000"/>
              </a:lnSpc>
              <a:spcBef>
                <a:spcPts val="1200"/>
              </a:spcBef>
              <a:spcAft>
                <a:spcPts val="0"/>
              </a:spcAft>
              <a:buNone/>
            </a:pPr>
            <a:r>
              <a:rPr b="1" lang="en-IN" sz="4162">
                <a:solidFill>
                  <a:schemeClr val="lt1"/>
                </a:solidFill>
              </a:rPr>
              <a:t>The main interface of the      application contains:</a:t>
            </a:r>
            <a:endParaRPr b="1" sz="4162">
              <a:solidFill>
                <a:schemeClr val="lt1"/>
              </a:solidFill>
            </a:endParaRPr>
          </a:p>
          <a:p>
            <a:pPr indent="0" lvl="0" marL="0" rtl="0" algn="l">
              <a:lnSpc>
                <a:spcPct val="115000"/>
              </a:lnSpc>
              <a:spcBef>
                <a:spcPts val="1200"/>
              </a:spcBef>
              <a:spcAft>
                <a:spcPts val="0"/>
              </a:spcAft>
              <a:buNone/>
            </a:pPr>
            <a:r>
              <a:rPr b="1" lang="en-IN" sz="4162">
                <a:solidFill>
                  <a:schemeClr val="lt1"/>
                </a:solidFill>
              </a:rPr>
              <a:t>1) Input values for </a:t>
            </a:r>
            <a:r>
              <a:rPr b="1" lang="en-IN" sz="4162">
                <a:solidFill>
                  <a:schemeClr val="lt1"/>
                </a:solidFill>
              </a:rPr>
              <a:t>environmental sensor       values.</a:t>
            </a:r>
            <a:endParaRPr b="1" sz="4312">
              <a:solidFill>
                <a:schemeClr val="lt1"/>
              </a:solidFill>
            </a:endParaRPr>
          </a:p>
          <a:p>
            <a:pPr indent="0" lvl="0" marL="0" rtl="0" algn="l">
              <a:lnSpc>
                <a:spcPct val="115000"/>
              </a:lnSpc>
              <a:spcBef>
                <a:spcPts val="1200"/>
              </a:spcBef>
              <a:spcAft>
                <a:spcPts val="0"/>
              </a:spcAft>
              <a:buNone/>
            </a:pPr>
            <a:r>
              <a:rPr b="1" lang="en-IN" sz="4162">
                <a:solidFill>
                  <a:schemeClr val="lt1"/>
                </a:solidFill>
              </a:rPr>
              <a:t>2)Predict Fire Risk button.</a:t>
            </a:r>
            <a:endParaRPr b="1" sz="4162">
              <a:solidFill>
                <a:schemeClr val="lt1"/>
              </a:solidFill>
            </a:endParaRPr>
          </a:p>
          <a:p>
            <a:pPr indent="0" lvl="0" marL="0" rtl="0" algn="l">
              <a:lnSpc>
                <a:spcPct val="115000"/>
              </a:lnSpc>
              <a:spcBef>
                <a:spcPts val="1200"/>
              </a:spcBef>
              <a:spcAft>
                <a:spcPts val="0"/>
              </a:spcAft>
              <a:buNone/>
            </a:pPr>
            <a:r>
              <a:rPr b="1" lang="en-IN" sz="4162">
                <a:solidFill>
                  <a:schemeClr val="lt1"/>
                </a:solidFill>
              </a:rPr>
              <a:t>3)Output display section.</a:t>
            </a:r>
            <a:endParaRPr b="1" sz="4162">
              <a:solidFill>
                <a:schemeClr val="lt1"/>
              </a:solidFill>
            </a:endParaRPr>
          </a:p>
          <a:p>
            <a:pPr indent="0" lvl="0" marL="0" rtl="0" algn="l">
              <a:lnSpc>
                <a:spcPct val="115000"/>
              </a:lnSpc>
              <a:spcBef>
                <a:spcPts val="1200"/>
              </a:spcBef>
              <a:spcAft>
                <a:spcPts val="0"/>
              </a:spcAft>
              <a:buNone/>
            </a:pPr>
            <a:r>
              <a:rPr b="1" lang="en-IN" sz="4162">
                <a:solidFill>
                  <a:schemeClr val="lt1"/>
                </a:solidFill>
              </a:rPr>
              <a:t>4)Voice alert system.</a:t>
            </a:r>
            <a:endParaRPr b="1" sz="4162">
              <a:solidFill>
                <a:schemeClr val="lt1"/>
              </a:solidFill>
            </a:endParaRPr>
          </a:p>
          <a:p>
            <a:pPr indent="0" lvl="0" marL="457200" rtl="0" algn="l">
              <a:lnSpc>
                <a:spcPct val="115000"/>
              </a:lnSpc>
              <a:spcBef>
                <a:spcPts val="1200"/>
              </a:spcBef>
              <a:spcAft>
                <a:spcPts val="0"/>
              </a:spcAft>
              <a:buNone/>
            </a:pPr>
            <a:r>
              <a:t/>
            </a:r>
            <a:endParaRPr b="1" sz="2900">
              <a:solidFill>
                <a:schemeClr val="lt1"/>
              </a:solidFill>
            </a:endParaRPr>
          </a:p>
          <a:p>
            <a:pPr indent="0" lvl="0" marL="0" rtl="0" algn="l">
              <a:lnSpc>
                <a:spcPct val="115000"/>
              </a:lnSpc>
              <a:spcBef>
                <a:spcPts val="1200"/>
              </a:spcBef>
              <a:spcAft>
                <a:spcPts val="1200"/>
              </a:spcAft>
              <a:buNone/>
            </a:pPr>
            <a:r>
              <a:t/>
            </a:r>
            <a:endParaRPr b="1" sz="2900">
              <a:solidFill>
                <a:schemeClr val="lt1"/>
              </a:solidFill>
            </a:endParaRPr>
          </a:p>
        </p:txBody>
      </p:sp>
      <p:sp>
        <p:nvSpPr>
          <p:cNvPr id="122" name="Google Shape;122;p6"/>
          <p:cNvSpPr txBox="1"/>
          <p:nvPr/>
        </p:nvSpPr>
        <p:spPr>
          <a:xfrm>
            <a:off x="5029225" y="1600200"/>
            <a:ext cx="3686100" cy="45921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None/>
            </a:pPr>
            <a:r>
              <a:rPr b="1" i="0" lang="en-IN" sz="2900" u="sng" cap="none" strike="noStrike">
                <a:solidFill>
                  <a:schemeClr val="lt1"/>
                </a:solidFill>
                <a:latin typeface="Calibri"/>
                <a:ea typeface="Calibri"/>
                <a:cs typeface="Calibri"/>
                <a:sym typeface="Calibri"/>
              </a:rPr>
              <a:t>App’s Introduction</a:t>
            </a:r>
            <a:endParaRPr b="1" sz="2900" u="sng">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lang="en-IN" sz="2200" u="sng">
                <a:solidFill>
                  <a:schemeClr val="lt1"/>
                </a:solidFill>
                <a:latin typeface="Calibri"/>
                <a:ea typeface="Calibri"/>
                <a:cs typeface="Calibri"/>
                <a:sym typeface="Calibri"/>
              </a:rPr>
              <a:t> </a:t>
            </a:r>
            <a:endParaRPr b="1" sz="2200" u="sng">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lang="en-IN" sz="2500">
                <a:solidFill>
                  <a:schemeClr val="lt1"/>
                </a:solidFill>
                <a:latin typeface="Calibri"/>
                <a:ea typeface="Calibri"/>
                <a:cs typeface="Calibri"/>
                <a:sym typeface="Calibri"/>
              </a:rPr>
              <a:t>My app/project uses Random Forest Classifier</a:t>
            </a:r>
            <a:endParaRPr b="1" sz="2500">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lang="en-IN" sz="2500">
                <a:solidFill>
                  <a:schemeClr val="lt1"/>
                </a:solidFill>
                <a:latin typeface="Calibri"/>
                <a:ea typeface="Calibri"/>
                <a:cs typeface="Calibri"/>
                <a:sym typeface="Calibri"/>
              </a:rPr>
              <a:t>Model to analyse parameters such as temperature, pressure, humidity and particulate concentrations. Based on these inputs, the application predicts the fire risk level with audio alerts.</a:t>
            </a:r>
            <a:endParaRPr b="1" sz="25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p:nvPr/>
        </p:nvSpPr>
        <p:spPr>
          <a:xfrm>
            <a:off x="1609757" y="994336"/>
            <a:ext cx="5760600" cy="9360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How </a:t>
            </a:r>
            <a:r>
              <a:rPr b="1" lang="en-IN" sz="4400">
                <a:solidFill>
                  <a:schemeClr val="dk1"/>
                </a:solidFill>
                <a:latin typeface="Calibri"/>
                <a:ea typeface="Calibri"/>
                <a:cs typeface="Calibri"/>
                <a:sym typeface="Calibri"/>
              </a:rPr>
              <a:t>to</a:t>
            </a:r>
            <a:r>
              <a:rPr b="1" i="0" lang="en-IN" sz="4400" u="none" cap="none" strike="noStrike">
                <a:solidFill>
                  <a:schemeClr val="dk1"/>
                </a:solidFill>
                <a:latin typeface="Calibri"/>
                <a:ea typeface="Calibri"/>
                <a:cs typeface="Calibri"/>
                <a:sym typeface="Calibri"/>
              </a:rPr>
              <a:t> use the App?</a:t>
            </a:r>
            <a:endParaRPr/>
          </a:p>
        </p:txBody>
      </p:sp>
      <p:sp>
        <p:nvSpPr>
          <p:cNvPr id="128" name="Google Shape;128;p7"/>
          <p:cNvSpPr txBox="1"/>
          <p:nvPr/>
        </p:nvSpPr>
        <p:spPr>
          <a:xfrm>
            <a:off x="760900" y="2096600"/>
            <a:ext cx="66096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3200">
                <a:solidFill>
                  <a:schemeClr val="lt1"/>
                </a:solidFill>
                <a:latin typeface="Calibri"/>
                <a:ea typeface="Calibri"/>
                <a:cs typeface="Calibri"/>
                <a:sym typeface="Calibri"/>
              </a:rPr>
              <a:t>1) Launch the application.</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IN" sz="3200">
                <a:solidFill>
                  <a:schemeClr val="lt1"/>
                </a:solidFill>
                <a:latin typeface="Calibri"/>
                <a:ea typeface="Calibri"/>
                <a:cs typeface="Calibri"/>
                <a:sym typeface="Calibri"/>
              </a:rPr>
              <a:t>2)Enter the required sensor values into the input boxes. </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IN" sz="3200">
                <a:solidFill>
                  <a:schemeClr val="lt1"/>
                </a:solidFill>
                <a:latin typeface="Calibri"/>
                <a:ea typeface="Calibri"/>
                <a:cs typeface="Calibri"/>
                <a:sym typeface="Calibri"/>
              </a:rPr>
              <a:t>3)Click the “Predict Fire Risk” button. </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IN" sz="3200">
                <a:solidFill>
                  <a:schemeClr val="lt1"/>
                </a:solidFill>
                <a:latin typeface="Calibri"/>
                <a:ea typeface="Calibri"/>
                <a:cs typeface="Calibri"/>
                <a:sym typeface="Calibri"/>
              </a:rPr>
              <a:t>4)Observe the fire risk </a:t>
            </a:r>
            <a:r>
              <a:rPr lang="en-IN" sz="3200">
                <a:solidFill>
                  <a:schemeClr val="lt1"/>
                </a:solidFill>
                <a:latin typeface="Calibri"/>
                <a:ea typeface="Calibri"/>
                <a:cs typeface="Calibri"/>
                <a:sym typeface="Calibri"/>
              </a:rPr>
              <a:t>probability</a:t>
            </a:r>
            <a:r>
              <a:rPr lang="en-IN" sz="3200">
                <a:solidFill>
                  <a:schemeClr val="lt1"/>
                </a:solidFill>
                <a:latin typeface="Calibri"/>
                <a:ea typeface="Calibri"/>
                <a:cs typeface="Calibri"/>
                <a:sym typeface="Calibri"/>
              </a:rPr>
              <a:t> and risk classification.</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IN" sz="3200">
                <a:solidFill>
                  <a:schemeClr val="lt1"/>
                </a:solidFill>
                <a:latin typeface="Calibri"/>
                <a:ea typeface="Calibri"/>
                <a:cs typeface="Calibri"/>
                <a:sym typeface="Calibri"/>
              </a:rPr>
              <a:t>5)Listen to the generated voice alert.</a:t>
            </a:r>
            <a:endParaRPr sz="32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p:nvPr/>
        </p:nvSpPr>
        <p:spPr>
          <a:xfrm>
            <a:off x="611560" y="140358"/>
            <a:ext cx="7920880" cy="1290871"/>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Opt</a:t>
            </a:r>
            <a:r>
              <a:rPr b="1" lang="en-IN" sz="4400">
                <a:solidFill>
                  <a:schemeClr val="dk1"/>
                </a:solidFill>
                <a:latin typeface="Calibri"/>
                <a:ea typeface="Calibri"/>
                <a:cs typeface="Calibri"/>
                <a:sym typeface="Calibri"/>
              </a:rPr>
              <a:t>ions</a:t>
            </a:r>
            <a:endParaRPr/>
          </a:p>
          <a:p>
            <a:pPr indent="0" lvl="0" marL="0" marR="0" rtl="0" algn="l">
              <a:spcBef>
                <a:spcPts val="0"/>
              </a:spcBef>
              <a:spcAft>
                <a:spcPts val="0"/>
              </a:spcAft>
              <a:buNone/>
            </a:pPr>
            <a:r>
              <a:t/>
            </a:r>
            <a:endParaRPr/>
          </a:p>
        </p:txBody>
      </p:sp>
      <p:sp>
        <p:nvSpPr>
          <p:cNvPr id="134" name="Google Shape;134;p8"/>
          <p:cNvSpPr txBox="1"/>
          <p:nvPr>
            <p:ph idx="1" type="body"/>
          </p:nvPr>
        </p:nvSpPr>
        <p:spPr>
          <a:xfrm>
            <a:off x="457200" y="1600200"/>
            <a:ext cx="3471858"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b="1" lang="en-IN" sz="2400" u="sng">
                <a:solidFill>
                  <a:schemeClr val="lt1"/>
                </a:solidFill>
              </a:rPr>
              <a:t>Sensor Input Section </a:t>
            </a:r>
            <a:endParaRPr b="1" sz="2400" u="sng">
              <a:solidFill>
                <a:schemeClr val="lt1"/>
              </a:solidFill>
            </a:endParaRPr>
          </a:p>
          <a:p>
            <a:pPr indent="0" lvl="0" marL="342900" rtl="0" algn="l">
              <a:spcBef>
                <a:spcPts val="0"/>
              </a:spcBef>
              <a:spcAft>
                <a:spcPts val="0"/>
              </a:spcAft>
              <a:buNone/>
            </a:pPr>
            <a:r>
              <a:t/>
            </a:r>
            <a:endParaRPr b="1" sz="2400" u="sng">
              <a:solidFill>
                <a:schemeClr val="lt1"/>
              </a:solidFill>
            </a:endParaRPr>
          </a:p>
        </p:txBody>
      </p:sp>
      <p:sp>
        <p:nvSpPr>
          <p:cNvPr id="135" name="Google Shape;135;p8"/>
          <p:cNvSpPr txBox="1"/>
          <p:nvPr/>
        </p:nvSpPr>
        <p:spPr>
          <a:xfrm>
            <a:off x="5272425" y="1600200"/>
            <a:ext cx="3757500" cy="4429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lang="en-IN" sz="2500" u="sng">
                <a:solidFill>
                  <a:schemeClr val="lt1"/>
                </a:solidFill>
                <a:latin typeface="Calibri"/>
                <a:ea typeface="Calibri"/>
                <a:cs typeface="Calibri"/>
                <a:sym typeface="Calibri"/>
              </a:rPr>
              <a:t>Prediction Output Screen</a:t>
            </a:r>
            <a:endParaRPr b="1" sz="2500" u="sng">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lang="en-IN" sz="2600" u="sng">
                <a:solidFill>
                  <a:schemeClr val="lt1"/>
                </a:solidFill>
                <a:latin typeface="Calibri"/>
                <a:ea typeface="Calibri"/>
                <a:cs typeface="Calibri"/>
                <a:sym typeface="Calibri"/>
              </a:rPr>
              <a:t> </a:t>
            </a:r>
            <a:endParaRPr b="1" i="0" sz="2600" u="sng" cap="none" strike="noStrike">
              <a:solidFill>
                <a:schemeClr val="lt1"/>
              </a:solidFill>
              <a:latin typeface="Calibri"/>
              <a:ea typeface="Calibri"/>
              <a:cs typeface="Calibri"/>
              <a:sym typeface="Calibri"/>
            </a:endParaRPr>
          </a:p>
        </p:txBody>
      </p:sp>
      <p:sp>
        <p:nvSpPr>
          <p:cNvPr id="136" name="Google Shape;136;p8"/>
          <p:cNvSpPr txBox="1"/>
          <p:nvPr/>
        </p:nvSpPr>
        <p:spPr>
          <a:xfrm>
            <a:off x="129300" y="4804150"/>
            <a:ext cx="40452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600">
                <a:solidFill>
                  <a:schemeClr val="lt1"/>
                </a:solidFill>
                <a:latin typeface="Calibri"/>
                <a:ea typeface="Calibri"/>
                <a:cs typeface="Calibri"/>
                <a:sym typeface="Calibri"/>
              </a:rPr>
              <a:t>Here, the user inputs </a:t>
            </a:r>
            <a:r>
              <a:rPr b="1" lang="en-IN" sz="2600">
                <a:solidFill>
                  <a:schemeClr val="lt1"/>
                </a:solidFill>
                <a:latin typeface="Calibri"/>
                <a:ea typeface="Calibri"/>
                <a:cs typeface="Calibri"/>
                <a:sym typeface="Calibri"/>
              </a:rPr>
              <a:t>for different parameters.</a:t>
            </a:r>
            <a:endParaRPr b="1" sz="2600">
              <a:solidFill>
                <a:schemeClr val="lt1"/>
              </a:solidFill>
              <a:latin typeface="Calibri"/>
              <a:ea typeface="Calibri"/>
              <a:cs typeface="Calibri"/>
              <a:sym typeface="Calibri"/>
            </a:endParaRPr>
          </a:p>
          <a:p>
            <a:pPr indent="0" lvl="0" marL="0" rtl="0" algn="l">
              <a:spcBef>
                <a:spcPts val="0"/>
              </a:spcBef>
              <a:spcAft>
                <a:spcPts val="0"/>
              </a:spcAft>
              <a:buNone/>
            </a:pPr>
            <a:r>
              <a:rPr b="1" lang="en-IN" sz="2600">
                <a:solidFill>
                  <a:schemeClr val="lt1"/>
                </a:solidFill>
                <a:latin typeface="Calibri"/>
                <a:ea typeface="Calibri"/>
                <a:cs typeface="Calibri"/>
                <a:sym typeface="Calibri"/>
              </a:rPr>
              <a:t>(Note- Ensure all fields contain valid numerical inputs. )</a:t>
            </a:r>
            <a:endParaRPr b="1" sz="2600">
              <a:solidFill>
                <a:schemeClr val="lt1"/>
              </a:solidFill>
              <a:latin typeface="Calibri"/>
              <a:ea typeface="Calibri"/>
              <a:cs typeface="Calibri"/>
              <a:sym typeface="Calibri"/>
            </a:endParaRPr>
          </a:p>
        </p:txBody>
      </p:sp>
      <p:pic>
        <p:nvPicPr>
          <p:cNvPr id="137" name="Google Shape;137;p8"/>
          <p:cNvPicPr preferRelativeResize="0"/>
          <p:nvPr/>
        </p:nvPicPr>
        <p:blipFill>
          <a:blip r:embed="rId3">
            <a:alphaModFix/>
          </a:blip>
          <a:stretch>
            <a:fillRect/>
          </a:stretch>
        </p:blipFill>
        <p:spPr>
          <a:xfrm>
            <a:off x="129300" y="2113200"/>
            <a:ext cx="4442700" cy="2763800"/>
          </a:xfrm>
          <a:prstGeom prst="rect">
            <a:avLst/>
          </a:prstGeom>
          <a:noFill/>
          <a:ln>
            <a:noFill/>
          </a:ln>
        </p:spPr>
      </p:pic>
      <p:pic>
        <p:nvPicPr>
          <p:cNvPr id="138" name="Google Shape;138;p8" title="Output.mp4">
            <a:hlinkClick r:id="rId4"/>
          </p:cNvPr>
          <p:cNvPicPr preferRelativeResize="0"/>
          <p:nvPr/>
        </p:nvPicPr>
        <p:blipFill>
          <a:blip r:embed="rId5">
            <a:alphaModFix/>
          </a:blip>
          <a:stretch>
            <a:fillRect/>
          </a:stretch>
        </p:blipFill>
        <p:spPr>
          <a:xfrm>
            <a:off x="5113950" y="2230275"/>
            <a:ext cx="3685075" cy="2763800"/>
          </a:xfrm>
          <a:prstGeom prst="rect">
            <a:avLst/>
          </a:prstGeom>
          <a:noFill/>
          <a:ln>
            <a:noFill/>
          </a:ln>
        </p:spPr>
      </p:pic>
      <p:sp>
        <p:nvSpPr>
          <p:cNvPr id="139" name="Google Shape;139;p8"/>
          <p:cNvSpPr txBox="1"/>
          <p:nvPr/>
        </p:nvSpPr>
        <p:spPr>
          <a:xfrm>
            <a:off x="5112375" y="5121450"/>
            <a:ext cx="4045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400">
                <a:solidFill>
                  <a:schemeClr val="lt1"/>
                </a:solidFill>
                <a:latin typeface="Calibri"/>
                <a:ea typeface="Calibri"/>
                <a:cs typeface="Calibri"/>
                <a:sym typeface="Calibri"/>
              </a:rPr>
              <a:t>Thus, the system predicts fire risk and provides both visual and audio alerts based on environmental sensor inputs. </a:t>
            </a:r>
            <a:endParaRPr b="1" sz="2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p:nvPr/>
        </p:nvSpPr>
        <p:spPr>
          <a:xfrm>
            <a:off x="1871700" y="847925"/>
            <a:ext cx="5400600" cy="997200"/>
          </a:xfrm>
          <a:prstGeom prst="rect">
            <a:avLst/>
          </a:prstGeom>
          <a:solidFill>
            <a:srgbClr val="F1EDA5"/>
          </a:solidFill>
          <a:ln cap="flat" cmpd="sng" w="25400">
            <a:solidFill>
              <a:srgbClr val="F1ED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4400" u="none" cap="none" strike="noStrike">
                <a:solidFill>
                  <a:schemeClr val="dk1"/>
                </a:solidFill>
                <a:latin typeface="Calibri"/>
                <a:ea typeface="Calibri"/>
                <a:cs typeface="Calibri"/>
                <a:sym typeface="Calibri"/>
              </a:rPr>
              <a:t>Contact Person</a:t>
            </a:r>
            <a:endParaRPr/>
          </a:p>
        </p:txBody>
      </p:sp>
      <p:sp>
        <p:nvSpPr>
          <p:cNvPr id="145" name="Google Shape;145;p9"/>
          <p:cNvSpPr txBox="1"/>
          <p:nvPr>
            <p:ph idx="1" type="body"/>
          </p:nvPr>
        </p:nvSpPr>
        <p:spPr>
          <a:xfrm>
            <a:off x="457200" y="2475923"/>
            <a:ext cx="8229600" cy="3650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3200"/>
              <a:buChar char="•"/>
            </a:pPr>
            <a:r>
              <a:rPr b="1" lang="en-IN">
                <a:solidFill>
                  <a:schemeClr val="lt1"/>
                </a:solidFill>
              </a:rPr>
              <a:t>Please reach out to Sivabhargav GV at </a:t>
            </a:r>
            <a:r>
              <a:rPr b="1" lang="en-IN" u="sng">
                <a:solidFill>
                  <a:schemeClr val="hlink"/>
                </a:solidFill>
                <a:hlinkClick r:id="rId3"/>
              </a:rPr>
              <a:t>sivabhargav2008@gmail.com</a:t>
            </a:r>
            <a:r>
              <a:rPr b="1" lang="en-IN">
                <a:solidFill>
                  <a:schemeClr val="lt1"/>
                </a:solidFill>
              </a:rPr>
              <a:t> for any questions/ concerns/ suggestions on the App.</a:t>
            </a:r>
            <a:endParaRPr/>
          </a:p>
          <a:p>
            <a:pPr indent="-342900" lvl="0" marL="342900" rtl="0" algn="l">
              <a:spcBef>
                <a:spcPts val="640"/>
              </a:spcBef>
              <a:spcAft>
                <a:spcPts val="0"/>
              </a:spcAft>
              <a:buClr>
                <a:schemeClr val="dk1"/>
              </a:buClr>
              <a:buSzPts val="3200"/>
              <a:buNone/>
            </a:pPr>
            <a:r>
              <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2742076" y="2786058"/>
            <a:ext cx="4258816" cy="1143000"/>
          </a:xfrm>
          <a:prstGeom prst="rect">
            <a:avLst/>
          </a:prstGeom>
          <a:solidFill>
            <a:srgbClr val="F1EDA5"/>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2021-09-17T13:31:27Z</dcterms:created>
  <dc:creator>Smita</dc:creator>
</cp:coreProperties>
</file>