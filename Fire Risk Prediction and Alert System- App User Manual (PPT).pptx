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iqskJ4XiTv/8G1amg7gtlZNT7f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1020"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1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1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1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1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a:spLocks noGrp="1"/>
          </p:cNvSpPr>
          <p:nvPr>
            <p:ph type="pic" idx="2"/>
          </p:nvPr>
        </p:nvSpPr>
        <p:spPr>
          <a:xfrm>
            <a:off x="1792288" y="612775"/>
            <a:ext cx="5486400" cy="4114800"/>
          </a:xfrm>
          <a:prstGeom prst="rect">
            <a:avLst/>
          </a:prstGeom>
          <a:noFill/>
          <a:ln>
            <a:noFill/>
          </a:ln>
        </p:spPr>
      </p:sp>
      <p:sp>
        <p:nvSpPr>
          <p:cNvPr id="64" name="Google Shape;64;p2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code/hasibalmuzdadid/fire-alarm-triggering-analysis-accuracy-100/notebook"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drive.google.com/file/d/1PZz9TOFEt5f6AFdRRdKgYkkpUKMyFfi1/view"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mailto:sivabhargav2008@gmail.co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571475" y="200175"/>
            <a:ext cx="8256300" cy="1822200"/>
          </a:xfrm>
          <a:prstGeom prst="rect">
            <a:avLst/>
          </a:prstGeom>
          <a:solidFill>
            <a:srgbClr val="F1EDA5"/>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i="0" u="sng" strike="noStrike" cap="none">
                <a:solidFill>
                  <a:schemeClr val="dk1"/>
                </a:solidFill>
                <a:latin typeface="Calibri"/>
                <a:ea typeface="Calibri"/>
                <a:cs typeface="Calibri"/>
                <a:sym typeface="Calibri"/>
              </a:rPr>
              <a:t>Advance Internship@Clevered</a:t>
            </a:r>
            <a:br>
              <a:rPr lang="en-IN" sz="4400" b="1" i="0" u="none" strike="noStrike" cap="none">
                <a:solidFill>
                  <a:schemeClr val="dk1"/>
                </a:solidFill>
                <a:latin typeface="Calibri"/>
                <a:ea typeface="Calibri"/>
                <a:cs typeface="Calibri"/>
                <a:sym typeface="Calibri"/>
              </a:rPr>
            </a:br>
            <a:r>
              <a:rPr lang="en-IN" sz="4400" b="1">
                <a:solidFill>
                  <a:schemeClr val="dk1"/>
                </a:solidFill>
                <a:latin typeface="Calibri"/>
                <a:ea typeface="Calibri"/>
                <a:cs typeface="Calibri"/>
                <a:sym typeface="Calibri"/>
              </a:rPr>
              <a:t>Fire Risk Prediction and Alert System</a:t>
            </a:r>
            <a:endParaRPr sz="4400" b="0" i="0" u="none" strike="noStrike" cap="none">
              <a:solidFill>
                <a:schemeClr val="dk1"/>
              </a:solidFill>
              <a:latin typeface="Calibri"/>
              <a:ea typeface="Calibri"/>
              <a:cs typeface="Calibri"/>
              <a:sym typeface="Calibri"/>
            </a:endParaRPr>
          </a:p>
        </p:txBody>
      </p:sp>
      <p:sp>
        <p:nvSpPr>
          <p:cNvPr id="85" name="Google Shape;85;p1"/>
          <p:cNvSpPr txBox="1">
            <a:spLocks noGrp="1"/>
          </p:cNvSpPr>
          <p:nvPr>
            <p:ph type="subTitle" idx="1"/>
          </p:nvPr>
        </p:nvSpPr>
        <p:spPr>
          <a:xfrm>
            <a:off x="4572000" y="6072206"/>
            <a:ext cx="4572032" cy="785818"/>
          </a:xfrm>
          <a:prstGeom prst="rect">
            <a:avLst/>
          </a:prstGeom>
          <a:gradFill>
            <a:gsLst>
              <a:gs pos="0">
                <a:srgbClr val="5E9EFF"/>
              </a:gs>
              <a:gs pos="39999">
                <a:srgbClr val="85C2FF"/>
              </a:gs>
              <a:gs pos="70000">
                <a:srgbClr val="C4D6EB"/>
              </a:gs>
              <a:gs pos="100000">
                <a:srgbClr val="FFEBFA"/>
              </a:gs>
            </a:gsLst>
            <a:lin ang="16200000" scaled="0"/>
          </a:gradFill>
          <a:ln w="9525" cap="flat" cmpd="sng">
            <a:solidFill>
              <a:srgbClr val="0070C0"/>
            </a:solidFill>
            <a:prstDash val="solid"/>
            <a:round/>
            <a:headEnd type="none" w="sm" len="sm"/>
            <a:tailEnd type="none" w="sm" len="sm"/>
          </a:ln>
        </p:spPr>
        <p:txBody>
          <a:bodyPr spcFirstLastPara="1" wrap="square" lIns="91425" tIns="45700" rIns="91425" bIns="45700" anchor="t" anchorCtr="0">
            <a:normAutofit/>
          </a:bodyPr>
          <a:lstStyle/>
          <a:p>
            <a:pPr marL="0" lvl="0" indent="0" algn="r" rtl="0">
              <a:spcBef>
                <a:spcPts val="0"/>
              </a:spcBef>
              <a:spcAft>
                <a:spcPts val="0"/>
              </a:spcAft>
              <a:buClr>
                <a:schemeClr val="dk1"/>
              </a:buClr>
              <a:buSzPts val="3200"/>
              <a:buNone/>
            </a:pPr>
            <a:r>
              <a:rPr lang="en-IN" b="1">
                <a:solidFill>
                  <a:schemeClr val="dk1"/>
                </a:solidFill>
              </a:rPr>
              <a:t>Author: Sivabhargav GV </a:t>
            </a:r>
            <a:endParaRPr b="1">
              <a:solidFill>
                <a:schemeClr val="dk1"/>
              </a:solidFill>
            </a:endParaRPr>
          </a:p>
        </p:txBody>
      </p:sp>
      <p:sp>
        <p:nvSpPr>
          <p:cNvPr id="86" name="Google Shape;86;p1"/>
          <p:cNvSpPr txBox="1"/>
          <p:nvPr/>
        </p:nvSpPr>
        <p:spPr>
          <a:xfrm>
            <a:off x="1457348" y="2357430"/>
            <a:ext cx="6400800" cy="785818"/>
          </a:xfrm>
          <a:prstGeom prst="rect">
            <a:avLst/>
          </a:prstGeom>
          <a:gradFill>
            <a:gsLst>
              <a:gs pos="0">
                <a:srgbClr val="5E9EFF"/>
              </a:gs>
              <a:gs pos="39999">
                <a:srgbClr val="85C2FF"/>
              </a:gs>
              <a:gs pos="70000">
                <a:srgbClr val="C4D6EB"/>
              </a:gs>
              <a:gs pos="100000">
                <a:srgbClr val="FFEBFA"/>
              </a:gs>
            </a:gsLst>
            <a:lin ang="5400000" scaled="0"/>
          </a:gradFill>
          <a:ln w="9525" cap="flat" cmpd="sng">
            <a:solidFill>
              <a:srgbClr val="0070C0"/>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chemeClr val="dk1"/>
              </a:buClr>
              <a:buSzPts val="3600"/>
              <a:buFont typeface="Arial"/>
              <a:buNone/>
            </a:pPr>
            <a:r>
              <a:rPr lang="en-IN" sz="3600" b="1" i="0" u="none" strike="noStrike" cap="none">
                <a:solidFill>
                  <a:schemeClr val="dk1"/>
                </a:solidFill>
                <a:latin typeface="Calibri"/>
                <a:ea typeface="Calibri"/>
                <a:cs typeface="Calibri"/>
                <a:sym typeface="Calibri"/>
              </a:rPr>
              <a:t>App User Manual</a:t>
            </a:r>
            <a:endParaRPr sz="3600" b="1"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p:nvPr/>
        </p:nvSpPr>
        <p:spPr>
          <a:xfrm>
            <a:off x="1958622" y="404664"/>
            <a:ext cx="5256584" cy="936104"/>
          </a:xfrm>
          <a:prstGeom prst="rect">
            <a:avLst/>
          </a:prstGeom>
          <a:solidFill>
            <a:srgbClr val="F1EDA5"/>
          </a:solidFill>
          <a:ln w="25400" cap="flat" cmpd="sng">
            <a:solidFill>
              <a:srgbClr val="F1E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800" b="1" i="0" u="none" strike="noStrike" cap="none">
                <a:solidFill>
                  <a:schemeClr val="dk1"/>
                </a:solidFill>
                <a:latin typeface="Calibri"/>
                <a:ea typeface="Calibri"/>
                <a:cs typeface="Calibri"/>
                <a:sym typeface="Calibri"/>
              </a:rPr>
              <a:t>Table of Contents</a:t>
            </a:r>
            <a:endParaRPr/>
          </a:p>
        </p:txBody>
      </p:sp>
      <p:sp>
        <p:nvSpPr>
          <p:cNvPr id="92" name="Google Shape;92;p2"/>
          <p:cNvSpPr txBox="1">
            <a:spLocks noGrp="1"/>
          </p:cNvSpPr>
          <p:nvPr>
            <p:ph type="body" idx="1"/>
          </p:nvPr>
        </p:nvSpPr>
        <p:spPr>
          <a:xfrm>
            <a:off x="457200" y="2071678"/>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IN" b="1">
                <a:solidFill>
                  <a:schemeClr val="lt1"/>
                </a:solidFill>
              </a:rPr>
              <a:t>Acknowledgements</a:t>
            </a:r>
            <a:endParaRPr b="1">
              <a:solidFill>
                <a:schemeClr val="lt1"/>
              </a:solidFill>
            </a:endParaRPr>
          </a:p>
          <a:p>
            <a:pPr marL="0" lvl="0" indent="0" algn="l" rtl="0">
              <a:spcBef>
                <a:spcPts val="0"/>
              </a:spcBef>
              <a:spcAft>
                <a:spcPts val="0"/>
              </a:spcAft>
              <a:buNone/>
            </a:pPr>
            <a:r>
              <a:rPr lang="en-IN" b="1">
                <a:solidFill>
                  <a:schemeClr val="lt1"/>
                </a:solidFill>
              </a:rPr>
              <a:t>About Me</a:t>
            </a:r>
            <a:endParaRPr b="1">
              <a:solidFill>
                <a:schemeClr val="lt1"/>
              </a:solidFill>
            </a:endParaRPr>
          </a:p>
          <a:p>
            <a:pPr marL="0" lvl="0" indent="0" algn="l" rtl="0">
              <a:spcBef>
                <a:spcPts val="0"/>
              </a:spcBef>
              <a:spcAft>
                <a:spcPts val="0"/>
              </a:spcAft>
              <a:buNone/>
            </a:pPr>
            <a:r>
              <a:rPr lang="en-IN" b="1">
                <a:solidFill>
                  <a:schemeClr val="lt1"/>
                </a:solidFill>
              </a:rPr>
              <a:t>About my Internship with Clevered</a:t>
            </a:r>
            <a:endParaRPr b="1">
              <a:solidFill>
                <a:schemeClr val="lt1"/>
              </a:solidFill>
            </a:endParaRPr>
          </a:p>
          <a:p>
            <a:pPr marL="0" lvl="0" indent="0" algn="l" rtl="0">
              <a:spcBef>
                <a:spcPts val="0"/>
              </a:spcBef>
              <a:spcAft>
                <a:spcPts val="0"/>
              </a:spcAft>
              <a:buNone/>
            </a:pPr>
            <a:r>
              <a:rPr lang="en-IN" b="1">
                <a:solidFill>
                  <a:schemeClr val="lt1"/>
                </a:solidFill>
              </a:rPr>
              <a:t>About App</a:t>
            </a:r>
            <a:endParaRPr b="1">
              <a:solidFill>
                <a:schemeClr val="lt1"/>
              </a:solidFill>
            </a:endParaRPr>
          </a:p>
          <a:p>
            <a:pPr marL="0" lvl="0" indent="0" algn="l" rtl="0">
              <a:spcBef>
                <a:spcPts val="0"/>
              </a:spcBef>
              <a:spcAft>
                <a:spcPts val="0"/>
              </a:spcAft>
              <a:buNone/>
            </a:pPr>
            <a:r>
              <a:rPr lang="en-IN" b="1">
                <a:solidFill>
                  <a:schemeClr val="lt1"/>
                </a:solidFill>
              </a:rPr>
              <a:t>How to use the app</a:t>
            </a:r>
            <a:endParaRPr b="1">
              <a:solidFill>
                <a:schemeClr val="lt1"/>
              </a:solidFill>
            </a:endParaRPr>
          </a:p>
          <a:p>
            <a:pPr marL="0" lvl="0" indent="0" algn="l" rtl="0">
              <a:spcBef>
                <a:spcPts val="0"/>
              </a:spcBef>
              <a:spcAft>
                <a:spcPts val="0"/>
              </a:spcAft>
              <a:buNone/>
            </a:pPr>
            <a:r>
              <a:rPr lang="en-IN" b="1">
                <a:solidFill>
                  <a:schemeClr val="lt1"/>
                </a:solidFill>
              </a:rPr>
              <a:t>Options</a:t>
            </a:r>
            <a:endParaRPr b="1">
              <a:solidFill>
                <a:schemeClr val="lt1"/>
              </a:solidFill>
            </a:endParaRPr>
          </a:p>
          <a:p>
            <a:pPr marL="0" lvl="0" indent="0" algn="l" rtl="0">
              <a:spcBef>
                <a:spcPts val="0"/>
              </a:spcBef>
              <a:spcAft>
                <a:spcPts val="0"/>
              </a:spcAft>
              <a:buNone/>
            </a:pPr>
            <a:r>
              <a:rPr lang="en-IN" b="1">
                <a:solidFill>
                  <a:schemeClr val="lt1"/>
                </a:solidFill>
              </a:rPr>
              <a:t>Contact details</a:t>
            </a:r>
            <a:endParaRPr b="1">
              <a:solidFill>
                <a:schemeClr val="lt1"/>
              </a:solidFill>
            </a:endParaRPr>
          </a:p>
          <a:p>
            <a:pPr marL="0" lvl="0" indent="0" algn="l" rtl="0">
              <a:spcBef>
                <a:spcPts val="0"/>
              </a:spcBef>
              <a:spcAft>
                <a:spcPts val="0"/>
              </a:spcAft>
              <a:buNone/>
            </a:pPr>
            <a:endParaRPr b="1">
              <a:solidFill>
                <a:schemeClr val="lt1"/>
              </a:solidFill>
            </a:endParaRPr>
          </a:p>
          <a:p>
            <a:pPr marL="0" lvl="0" indent="0" algn="l" rtl="0">
              <a:spcBef>
                <a:spcPts val="0"/>
              </a:spcBef>
              <a:spcAft>
                <a:spcPts val="0"/>
              </a:spcAft>
              <a:buNone/>
            </a:pPr>
            <a:endParaRPr b="1">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p:nvPr/>
        </p:nvSpPr>
        <p:spPr>
          <a:xfrm>
            <a:off x="1835696" y="404664"/>
            <a:ext cx="5256584" cy="936104"/>
          </a:xfrm>
          <a:prstGeom prst="rect">
            <a:avLst/>
          </a:prstGeom>
          <a:solidFill>
            <a:srgbClr val="F1EDA5"/>
          </a:solidFill>
          <a:ln w="25400" cap="flat" cmpd="sng">
            <a:solidFill>
              <a:srgbClr val="F1E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400" b="1" i="0" u="none" strike="noStrike" cap="none">
                <a:solidFill>
                  <a:schemeClr val="dk1"/>
                </a:solidFill>
                <a:latin typeface="Calibri"/>
                <a:ea typeface="Calibri"/>
                <a:cs typeface="Calibri"/>
                <a:sym typeface="Calibri"/>
              </a:rPr>
              <a:t>Acknowledgements</a:t>
            </a:r>
            <a:endParaRPr/>
          </a:p>
        </p:txBody>
      </p:sp>
      <p:sp>
        <p:nvSpPr>
          <p:cNvPr id="98" name="Google Shape;98;p3"/>
          <p:cNvSpPr txBox="1">
            <a:spLocks noGrp="1"/>
          </p:cNvSpPr>
          <p:nvPr>
            <p:ph type="body" idx="1"/>
          </p:nvPr>
        </p:nvSpPr>
        <p:spPr>
          <a:xfrm>
            <a:off x="457200" y="1785926"/>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342900" lvl="0" indent="-312420" algn="l" rtl="0">
              <a:spcBef>
                <a:spcPts val="0"/>
              </a:spcBef>
              <a:spcAft>
                <a:spcPts val="0"/>
              </a:spcAft>
              <a:buClr>
                <a:schemeClr val="lt1"/>
              </a:buClr>
              <a:buSzPct val="100000"/>
              <a:buChar char="•"/>
            </a:pPr>
            <a:r>
              <a:rPr lang="en-IN" b="1">
                <a:solidFill>
                  <a:schemeClr val="lt1"/>
                </a:solidFill>
              </a:rPr>
              <a:t>I would like to express my sincere gratitude to Clevered, my mentor Mrs. Mani Mehrotra, and Dr Ken for providing me the opportunity and platform to develop new AI skills and learn app development. Their guidance throughout this internship has helped me to complete my project and improve my knowledge regarding real-life applications of coding.</a:t>
            </a:r>
            <a:endParaRPr b="1">
              <a:solidFill>
                <a:schemeClr val="lt1"/>
              </a:solidFill>
            </a:endParaRPr>
          </a:p>
          <a:p>
            <a:pPr marL="342900" lvl="0" indent="-236855" algn="l" rtl="0">
              <a:spcBef>
                <a:spcPts val="0"/>
              </a:spcBef>
              <a:spcAft>
                <a:spcPts val="0"/>
              </a:spcAft>
              <a:buClr>
                <a:schemeClr val="lt1"/>
              </a:buClr>
              <a:buSzPct val="56250"/>
              <a:buChar char="•"/>
            </a:pPr>
            <a:r>
              <a:rPr lang="en-IN" b="1" u="sng">
                <a:solidFill>
                  <a:schemeClr val="hlink"/>
                </a:solidFill>
                <a:hlinkClick r:id="rId3"/>
              </a:rPr>
              <a:t>https://www.kaggle.com/code/hasibalmuzdadid/fire-alarm-triggering-analysis-accuracy-100/notebook</a:t>
            </a:r>
            <a:r>
              <a:rPr lang="en-IN" b="1">
                <a:solidFill>
                  <a:schemeClr val="lt1"/>
                </a:solidFill>
              </a:rPr>
              <a:t> was the website recommended to me, and I used it as a reference for my project as well as for downloading the large training dataset. </a:t>
            </a:r>
            <a:endParaRPr b="1">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p:nvPr/>
        </p:nvSpPr>
        <p:spPr>
          <a:xfrm>
            <a:off x="1835696" y="404664"/>
            <a:ext cx="5256584" cy="936104"/>
          </a:xfrm>
          <a:prstGeom prst="rect">
            <a:avLst/>
          </a:prstGeom>
          <a:solidFill>
            <a:srgbClr val="F1EDA5"/>
          </a:solidFill>
          <a:ln w="25400" cap="flat" cmpd="sng">
            <a:solidFill>
              <a:srgbClr val="F1E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400" b="1" i="0" u="none" strike="noStrike" cap="none">
                <a:solidFill>
                  <a:schemeClr val="dk1"/>
                </a:solidFill>
                <a:latin typeface="Calibri"/>
                <a:ea typeface="Calibri"/>
                <a:cs typeface="Calibri"/>
                <a:sym typeface="Calibri"/>
              </a:rPr>
              <a:t>About Me..</a:t>
            </a:r>
            <a:endParaRPr/>
          </a:p>
        </p:txBody>
      </p:sp>
      <p:sp>
        <p:nvSpPr>
          <p:cNvPr id="104" name="Google Shape;104;p4"/>
          <p:cNvSpPr txBox="1">
            <a:spLocks noGrp="1"/>
          </p:cNvSpPr>
          <p:nvPr>
            <p:ph type="body" idx="1"/>
          </p:nvPr>
        </p:nvSpPr>
        <p:spPr>
          <a:xfrm>
            <a:off x="197275" y="1791675"/>
            <a:ext cx="4105500" cy="5066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b="1">
              <a:solidFill>
                <a:schemeClr val="lt1"/>
              </a:solidFill>
            </a:endParaRPr>
          </a:p>
        </p:txBody>
      </p:sp>
      <p:pic>
        <p:nvPicPr>
          <p:cNvPr id="105" name="Google Shape;105;p4"/>
          <p:cNvPicPr preferRelativeResize="0"/>
          <p:nvPr/>
        </p:nvPicPr>
        <p:blipFill>
          <a:blip r:embed="rId3">
            <a:alphaModFix/>
          </a:blip>
          <a:stretch>
            <a:fillRect/>
          </a:stretch>
        </p:blipFill>
        <p:spPr>
          <a:xfrm>
            <a:off x="197275" y="1791675"/>
            <a:ext cx="4105549" cy="4932199"/>
          </a:xfrm>
          <a:prstGeom prst="rect">
            <a:avLst/>
          </a:prstGeom>
          <a:noFill/>
          <a:ln>
            <a:noFill/>
          </a:ln>
        </p:spPr>
      </p:pic>
      <p:sp>
        <p:nvSpPr>
          <p:cNvPr id="106" name="Google Shape;106;p4"/>
          <p:cNvSpPr txBox="1"/>
          <p:nvPr/>
        </p:nvSpPr>
        <p:spPr>
          <a:xfrm>
            <a:off x="4302825" y="1918800"/>
            <a:ext cx="4870200" cy="461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3200">
                <a:solidFill>
                  <a:schemeClr val="lt1"/>
                </a:solidFill>
                <a:latin typeface="Calibri"/>
                <a:ea typeface="Calibri"/>
                <a:cs typeface="Calibri"/>
                <a:sym typeface="Calibri"/>
              </a:rPr>
              <a:t>My name is Sivabhargav GV,</a:t>
            </a:r>
            <a:endParaRPr sz="3200">
              <a:solidFill>
                <a:schemeClr val="lt1"/>
              </a:solidFill>
              <a:latin typeface="Calibri"/>
              <a:ea typeface="Calibri"/>
              <a:cs typeface="Calibri"/>
              <a:sym typeface="Calibri"/>
            </a:endParaRPr>
          </a:p>
          <a:p>
            <a:pPr marL="0" lvl="0" indent="0" algn="l" rtl="0">
              <a:spcBef>
                <a:spcPts val="0"/>
              </a:spcBef>
              <a:spcAft>
                <a:spcPts val="0"/>
              </a:spcAft>
              <a:buNone/>
            </a:pPr>
            <a:r>
              <a:rPr lang="en-IN" sz="3200">
                <a:solidFill>
                  <a:schemeClr val="lt1"/>
                </a:solidFill>
                <a:latin typeface="Calibri"/>
                <a:ea typeface="Calibri"/>
                <a:cs typeface="Calibri"/>
                <a:sym typeface="Calibri"/>
              </a:rPr>
              <a:t>and I am a class XII student studying in DPS Gurgaon Sector-45. I like to build projects that apply technology to solve practical real-world problems through coding and other AI related tools.</a:t>
            </a:r>
            <a:endParaRPr sz="32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p:nvPr/>
        </p:nvSpPr>
        <p:spPr>
          <a:xfrm>
            <a:off x="755575" y="279175"/>
            <a:ext cx="7632900" cy="821100"/>
          </a:xfrm>
          <a:prstGeom prst="rect">
            <a:avLst/>
          </a:prstGeom>
          <a:solidFill>
            <a:srgbClr val="F1EDA5"/>
          </a:solidFill>
          <a:ln w="25400" cap="flat" cmpd="sng">
            <a:solidFill>
              <a:srgbClr val="F1E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i="0" u="none" strike="noStrike" cap="none">
                <a:solidFill>
                  <a:schemeClr val="dk1"/>
                </a:solidFill>
                <a:latin typeface="Calibri"/>
                <a:ea typeface="Calibri"/>
                <a:cs typeface="Calibri"/>
                <a:sym typeface="Calibri"/>
              </a:rPr>
              <a:t>About My Internship with Clevered..</a:t>
            </a:r>
            <a:endParaRPr/>
          </a:p>
        </p:txBody>
      </p:sp>
      <p:sp>
        <p:nvSpPr>
          <p:cNvPr id="112" name="Google Shape;112;p5"/>
          <p:cNvSpPr txBox="1">
            <a:spLocks noGrp="1"/>
          </p:cNvSpPr>
          <p:nvPr>
            <p:ph type="body" idx="1"/>
          </p:nvPr>
        </p:nvSpPr>
        <p:spPr>
          <a:xfrm>
            <a:off x="457200" y="1600200"/>
            <a:ext cx="3686172" cy="4525963"/>
          </a:xfrm>
          <a:prstGeom prst="rect">
            <a:avLst/>
          </a:prstGeom>
          <a:noFill/>
          <a:ln>
            <a:noFill/>
          </a:ln>
        </p:spPr>
        <p:txBody>
          <a:bodyPr spcFirstLastPara="1" wrap="square" lIns="91425" tIns="45700" rIns="91425" bIns="45700" anchor="t" anchorCtr="0">
            <a:normAutofit/>
          </a:bodyPr>
          <a:lstStyle/>
          <a:p>
            <a:pPr marL="342900" lvl="0" indent="0" algn="l" rtl="0">
              <a:spcBef>
                <a:spcPts val="0"/>
              </a:spcBef>
              <a:spcAft>
                <a:spcPts val="0"/>
              </a:spcAft>
              <a:buNone/>
            </a:pPr>
            <a:endParaRPr b="1">
              <a:solidFill>
                <a:schemeClr val="lt1"/>
              </a:solidFill>
            </a:endParaRPr>
          </a:p>
        </p:txBody>
      </p:sp>
      <p:sp>
        <p:nvSpPr>
          <p:cNvPr id="113" name="Google Shape;113;p5"/>
          <p:cNvSpPr txBox="1"/>
          <p:nvPr/>
        </p:nvSpPr>
        <p:spPr>
          <a:xfrm>
            <a:off x="4509400" y="1245325"/>
            <a:ext cx="4446300" cy="5323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640"/>
              </a:spcBef>
              <a:spcAft>
                <a:spcPts val="0"/>
              </a:spcAft>
              <a:buNone/>
            </a:pPr>
            <a:r>
              <a:rPr lang="en-IN" sz="2300" b="1">
                <a:solidFill>
                  <a:schemeClr val="lt1"/>
                </a:solidFill>
                <a:latin typeface="Calibri"/>
                <a:ea typeface="Calibri"/>
                <a:cs typeface="Calibri"/>
                <a:sym typeface="Calibri"/>
              </a:rPr>
              <a:t>My internship with clevered helped me to understand the practical applications of AI,for example, the use of gTTs feature in python to convert text-to-speech,user interface development using ipywidgets etc.</a:t>
            </a:r>
            <a:endParaRPr sz="2300" b="1">
              <a:solidFill>
                <a:schemeClr val="lt1"/>
              </a:solidFill>
              <a:latin typeface="Calibri"/>
              <a:ea typeface="Calibri"/>
              <a:cs typeface="Calibri"/>
              <a:sym typeface="Calibri"/>
            </a:endParaRPr>
          </a:p>
          <a:p>
            <a:pPr marL="0" marR="0" lvl="0" indent="0" algn="l" rtl="0">
              <a:lnSpc>
                <a:spcPct val="100000"/>
              </a:lnSpc>
              <a:spcBef>
                <a:spcPts val="640"/>
              </a:spcBef>
              <a:spcAft>
                <a:spcPts val="0"/>
              </a:spcAft>
              <a:buNone/>
            </a:pPr>
            <a:r>
              <a:rPr lang="en-IN" sz="2300" b="1">
                <a:solidFill>
                  <a:schemeClr val="lt1"/>
                </a:solidFill>
                <a:latin typeface="Calibri"/>
                <a:ea typeface="Calibri"/>
                <a:cs typeface="Calibri"/>
                <a:sym typeface="Calibri"/>
              </a:rPr>
              <a:t>Throughout this internship, I learned dataset processing, model training, UI development and additional use of python libraries.</a:t>
            </a:r>
            <a:endParaRPr sz="2300" b="1">
              <a:solidFill>
                <a:schemeClr val="lt1"/>
              </a:solidFill>
              <a:latin typeface="Calibri"/>
              <a:ea typeface="Calibri"/>
              <a:cs typeface="Calibri"/>
              <a:sym typeface="Calibri"/>
            </a:endParaRPr>
          </a:p>
          <a:p>
            <a:pPr marL="0" marR="0" lvl="0" indent="0" algn="l" rtl="0">
              <a:lnSpc>
                <a:spcPct val="100000"/>
              </a:lnSpc>
              <a:spcBef>
                <a:spcPts val="640"/>
              </a:spcBef>
              <a:spcAft>
                <a:spcPts val="0"/>
              </a:spcAft>
              <a:buNone/>
            </a:pPr>
            <a:r>
              <a:rPr lang="en-IN" sz="2300" b="1">
                <a:solidFill>
                  <a:schemeClr val="lt1"/>
                </a:solidFill>
                <a:latin typeface="Calibri"/>
                <a:ea typeface="Calibri"/>
                <a:cs typeface="Calibri"/>
                <a:sym typeface="Calibri"/>
              </a:rPr>
              <a:t>I successfully completed the internship project and learning activities conducted by Clevered. </a:t>
            </a:r>
            <a:endParaRPr sz="2300" b="1">
              <a:solidFill>
                <a:schemeClr val="lt1"/>
              </a:solidFill>
              <a:latin typeface="Calibri"/>
              <a:ea typeface="Calibri"/>
              <a:cs typeface="Calibri"/>
              <a:sym typeface="Calibri"/>
            </a:endParaRPr>
          </a:p>
          <a:p>
            <a:pPr marL="0" marR="0" lvl="0" indent="0" algn="l" rtl="0">
              <a:lnSpc>
                <a:spcPct val="100000"/>
              </a:lnSpc>
              <a:spcBef>
                <a:spcPts val="640"/>
              </a:spcBef>
              <a:spcAft>
                <a:spcPts val="0"/>
              </a:spcAft>
              <a:buNone/>
            </a:pPr>
            <a:endParaRPr sz="2300" b="1">
              <a:solidFill>
                <a:schemeClr val="lt1"/>
              </a:solidFill>
              <a:latin typeface="Calibri"/>
              <a:ea typeface="Calibri"/>
              <a:cs typeface="Calibri"/>
              <a:sym typeface="Calibri"/>
            </a:endParaRPr>
          </a:p>
        </p:txBody>
      </p:sp>
      <p:pic>
        <p:nvPicPr>
          <p:cNvPr id="114" name="Google Shape;114;p5"/>
          <p:cNvPicPr preferRelativeResize="0"/>
          <p:nvPr/>
        </p:nvPicPr>
        <p:blipFill>
          <a:blip r:embed="rId3">
            <a:alphaModFix/>
          </a:blip>
          <a:stretch>
            <a:fillRect/>
          </a:stretch>
        </p:blipFill>
        <p:spPr>
          <a:xfrm>
            <a:off x="151150" y="1245337"/>
            <a:ext cx="4205976" cy="2583827"/>
          </a:xfrm>
          <a:prstGeom prst="rect">
            <a:avLst/>
          </a:prstGeom>
          <a:noFill/>
          <a:ln>
            <a:noFill/>
          </a:ln>
        </p:spPr>
      </p:pic>
      <p:pic>
        <p:nvPicPr>
          <p:cNvPr id="115" name="Google Shape;115;p5"/>
          <p:cNvPicPr preferRelativeResize="0"/>
          <p:nvPr/>
        </p:nvPicPr>
        <p:blipFill>
          <a:blip r:embed="rId4">
            <a:alphaModFix/>
          </a:blip>
          <a:stretch>
            <a:fillRect/>
          </a:stretch>
        </p:blipFill>
        <p:spPr>
          <a:xfrm>
            <a:off x="151150" y="3974225"/>
            <a:ext cx="4205976" cy="2693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6"/>
          <p:cNvSpPr/>
          <p:nvPr/>
        </p:nvSpPr>
        <p:spPr>
          <a:xfrm>
            <a:off x="1835696" y="404664"/>
            <a:ext cx="5256584" cy="936104"/>
          </a:xfrm>
          <a:prstGeom prst="rect">
            <a:avLst/>
          </a:prstGeom>
          <a:solidFill>
            <a:srgbClr val="F1EDA5"/>
          </a:solidFill>
          <a:ln w="25400" cap="flat" cmpd="sng">
            <a:solidFill>
              <a:srgbClr val="F1E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400" b="1" i="0" u="none" strike="noStrike" cap="none">
                <a:solidFill>
                  <a:schemeClr val="dk1"/>
                </a:solidFill>
                <a:latin typeface="Calibri"/>
                <a:ea typeface="Calibri"/>
                <a:cs typeface="Calibri"/>
                <a:sym typeface="Calibri"/>
              </a:rPr>
              <a:t>About App..</a:t>
            </a:r>
            <a:endParaRPr/>
          </a:p>
        </p:txBody>
      </p:sp>
      <p:sp>
        <p:nvSpPr>
          <p:cNvPr id="121" name="Google Shape;121;p6"/>
          <p:cNvSpPr txBox="1">
            <a:spLocks noGrp="1"/>
          </p:cNvSpPr>
          <p:nvPr>
            <p:ph type="body" idx="1"/>
          </p:nvPr>
        </p:nvSpPr>
        <p:spPr>
          <a:xfrm>
            <a:off x="416025" y="1600200"/>
            <a:ext cx="4269600" cy="5111100"/>
          </a:xfrm>
          <a:prstGeom prst="rect">
            <a:avLst/>
          </a:prstGeom>
          <a:noFill/>
          <a:ln>
            <a:noFill/>
          </a:ln>
        </p:spPr>
        <p:txBody>
          <a:bodyPr spcFirstLastPara="1" wrap="square" lIns="91425" tIns="45700" rIns="91425" bIns="45700" anchor="t" anchorCtr="0">
            <a:normAutofit fontScale="62500" lnSpcReduction="20000"/>
          </a:bodyPr>
          <a:lstStyle/>
          <a:p>
            <a:pPr marL="0" lvl="0" indent="0" algn="l" rtl="0">
              <a:lnSpc>
                <a:spcPct val="115000"/>
              </a:lnSpc>
              <a:spcBef>
                <a:spcPts val="1200"/>
              </a:spcBef>
              <a:spcAft>
                <a:spcPts val="0"/>
              </a:spcAft>
              <a:buNone/>
            </a:pPr>
            <a:r>
              <a:rPr lang="en-IN" sz="2900" b="1">
                <a:solidFill>
                  <a:schemeClr val="lt1"/>
                </a:solidFill>
              </a:rPr>
              <a:t>       </a:t>
            </a:r>
            <a:r>
              <a:rPr lang="en-IN" sz="4162" b="1" u="sng">
                <a:solidFill>
                  <a:schemeClr val="lt1"/>
                </a:solidFill>
              </a:rPr>
              <a:t>App’s Main Menu</a:t>
            </a:r>
            <a:endParaRPr sz="4162" b="1" u="sng">
              <a:solidFill>
                <a:schemeClr val="lt1"/>
              </a:solidFill>
            </a:endParaRPr>
          </a:p>
          <a:p>
            <a:pPr marL="0" lvl="0" indent="0" algn="l" rtl="0">
              <a:lnSpc>
                <a:spcPct val="115000"/>
              </a:lnSpc>
              <a:spcBef>
                <a:spcPts val="1200"/>
              </a:spcBef>
              <a:spcAft>
                <a:spcPts val="0"/>
              </a:spcAft>
              <a:buNone/>
            </a:pPr>
            <a:r>
              <a:rPr lang="en-IN" sz="4162" b="1">
                <a:solidFill>
                  <a:schemeClr val="lt1"/>
                </a:solidFill>
              </a:rPr>
              <a:t>The main interface of the      application contains:</a:t>
            </a:r>
            <a:endParaRPr sz="4162" b="1">
              <a:solidFill>
                <a:schemeClr val="lt1"/>
              </a:solidFill>
            </a:endParaRPr>
          </a:p>
          <a:p>
            <a:pPr marL="0" lvl="0" indent="0" algn="l" rtl="0">
              <a:lnSpc>
                <a:spcPct val="115000"/>
              </a:lnSpc>
              <a:spcBef>
                <a:spcPts val="1200"/>
              </a:spcBef>
              <a:spcAft>
                <a:spcPts val="0"/>
              </a:spcAft>
              <a:buNone/>
            </a:pPr>
            <a:r>
              <a:rPr lang="en-IN" sz="4162" b="1">
                <a:solidFill>
                  <a:schemeClr val="lt1"/>
                </a:solidFill>
              </a:rPr>
              <a:t>1) Input values for environmental sensor       values.</a:t>
            </a:r>
            <a:endParaRPr sz="4312" b="1">
              <a:solidFill>
                <a:schemeClr val="lt1"/>
              </a:solidFill>
            </a:endParaRPr>
          </a:p>
          <a:p>
            <a:pPr marL="0" lvl="0" indent="0" algn="l" rtl="0">
              <a:lnSpc>
                <a:spcPct val="115000"/>
              </a:lnSpc>
              <a:spcBef>
                <a:spcPts val="1200"/>
              </a:spcBef>
              <a:spcAft>
                <a:spcPts val="0"/>
              </a:spcAft>
              <a:buNone/>
            </a:pPr>
            <a:r>
              <a:rPr lang="en-IN" sz="4162" b="1">
                <a:solidFill>
                  <a:schemeClr val="lt1"/>
                </a:solidFill>
              </a:rPr>
              <a:t>2)Predict Fire Risk button.</a:t>
            </a:r>
            <a:endParaRPr sz="4162" b="1">
              <a:solidFill>
                <a:schemeClr val="lt1"/>
              </a:solidFill>
            </a:endParaRPr>
          </a:p>
          <a:p>
            <a:pPr marL="0" lvl="0" indent="0" algn="l" rtl="0">
              <a:lnSpc>
                <a:spcPct val="115000"/>
              </a:lnSpc>
              <a:spcBef>
                <a:spcPts val="1200"/>
              </a:spcBef>
              <a:spcAft>
                <a:spcPts val="0"/>
              </a:spcAft>
              <a:buNone/>
            </a:pPr>
            <a:r>
              <a:rPr lang="en-IN" sz="4162" b="1">
                <a:solidFill>
                  <a:schemeClr val="lt1"/>
                </a:solidFill>
              </a:rPr>
              <a:t>3)Output display section.</a:t>
            </a:r>
            <a:endParaRPr sz="4162" b="1">
              <a:solidFill>
                <a:schemeClr val="lt1"/>
              </a:solidFill>
            </a:endParaRPr>
          </a:p>
          <a:p>
            <a:pPr marL="0" lvl="0" indent="0" algn="l" rtl="0">
              <a:lnSpc>
                <a:spcPct val="115000"/>
              </a:lnSpc>
              <a:spcBef>
                <a:spcPts val="1200"/>
              </a:spcBef>
              <a:spcAft>
                <a:spcPts val="0"/>
              </a:spcAft>
              <a:buNone/>
            </a:pPr>
            <a:r>
              <a:rPr lang="en-IN" sz="4162" b="1">
                <a:solidFill>
                  <a:schemeClr val="lt1"/>
                </a:solidFill>
              </a:rPr>
              <a:t>4)Voice alert system.</a:t>
            </a:r>
            <a:endParaRPr sz="4162" b="1">
              <a:solidFill>
                <a:schemeClr val="lt1"/>
              </a:solidFill>
            </a:endParaRPr>
          </a:p>
          <a:p>
            <a:pPr marL="457200" lvl="0" indent="0" algn="l" rtl="0">
              <a:lnSpc>
                <a:spcPct val="115000"/>
              </a:lnSpc>
              <a:spcBef>
                <a:spcPts val="1200"/>
              </a:spcBef>
              <a:spcAft>
                <a:spcPts val="0"/>
              </a:spcAft>
              <a:buNone/>
            </a:pPr>
            <a:endParaRPr sz="2900" b="1">
              <a:solidFill>
                <a:schemeClr val="lt1"/>
              </a:solidFill>
            </a:endParaRPr>
          </a:p>
          <a:p>
            <a:pPr marL="0" lvl="0" indent="0" algn="l" rtl="0">
              <a:lnSpc>
                <a:spcPct val="115000"/>
              </a:lnSpc>
              <a:spcBef>
                <a:spcPts val="1200"/>
              </a:spcBef>
              <a:spcAft>
                <a:spcPts val="1200"/>
              </a:spcAft>
              <a:buNone/>
            </a:pPr>
            <a:endParaRPr sz="2900" b="1">
              <a:solidFill>
                <a:schemeClr val="lt1"/>
              </a:solidFill>
            </a:endParaRPr>
          </a:p>
        </p:txBody>
      </p:sp>
      <p:sp>
        <p:nvSpPr>
          <p:cNvPr id="122" name="Google Shape;122;p6"/>
          <p:cNvSpPr txBox="1"/>
          <p:nvPr/>
        </p:nvSpPr>
        <p:spPr>
          <a:xfrm>
            <a:off x="5029225" y="1600200"/>
            <a:ext cx="3686100" cy="4592100"/>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100000"/>
              </a:lnSpc>
              <a:spcBef>
                <a:spcPts val="0"/>
              </a:spcBef>
              <a:spcAft>
                <a:spcPts val="0"/>
              </a:spcAft>
              <a:buNone/>
            </a:pPr>
            <a:r>
              <a:rPr lang="en-IN" sz="2900" b="1" i="0" u="sng" strike="noStrike" cap="none">
                <a:solidFill>
                  <a:schemeClr val="lt1"/>
                </a:solidFill>
                <a:latin typeface="Calibri"/>
                <a:ea typeface="Calibri"/>
                <a:cs typeface="Calibri"/>
                <a:sym typeface="Calibri"/>
              </a:rPr>
              <a:t>App’s Introduction</a:t>
            </a:r>
            <a:endParaRPr sz="2900" b="1" u="sng">
              <a:solidFill>
                <a:schemeClr val="lt1"/>
              </a:solidFill>
              <a:latin typeface="Calibri"/>
              <a:ea typeface="Calibri"/>
              <a:cs typeface="Calibri"/>
              <a:sym typeface="Calibri"/>
            </a:endParaRPr>
          </a:p>
          <a:p>
            <a:pPr marL="0" marR="0" lvl="0" indent="0" algn="l" rtl="0">
              <a:lnSpc>
                <a:spcPct val="100000"/>
              </a:lnSpc>
              <a:spcBef>
                <a:spcPts val="0"/>
              </a:spcBef>
              <a:spcAft>
                <a:spcPts val="0"/>
              </a:spcAft>
              <a:buNone/>
            </a:pPr>
            <a:r>
              <a:rPr lang="en-IN" sz="2200" b="1" u="sng">
                <a:solidFill>
                  <a:schemeClr val="lt1"/>
                </a:solidFill>
                <a:latin typeface="Calibri"/>
                <a:ea typeface="Calibri"/>
                <a:cs typeface="Calibri"/>
                <a:sym typeface="Calibri"/>
              </a:rPr>
              <a:t> </a:t>
            </a:r>
            <a:endParaRPr sz="2200" b="1" u="sng">
              <a:solidFill>
                <a:schemeClr val="lt1"/>
              </a:solidFill>
              <a:latin typeface="Calibri"/>
              <a:ea typeface="Calibri"/>
              <a:cs typeface="Calibri"/>
              <a:sym typeface="Calibri"/>
            </a:endParaRPr>
          </a:p>
          <a:p>
            <a:pPr marL="0" marR="0" lvl="0" indent="0" algn="l" rtl="0">
              <a:lnSpc>
                <a:spcPct val="100000"/>
              </a:lnSpc>
              <a:spcBef>
                <a:spcPts val="0"/>
              </a:spcBef>
              <a:spcAft>
                <a:spcPts val="0"/>
              </a:spcAft>
              <a:buNone/>
            </a:pPr>
            <a:r>
              <a:rPr lang="en-IN" sz="2500" b="1">
                <a:solidFill>
                  <a:schemeClr val="lt1"/>
                </a:solidFill>
                <a:latin typeface="Calibri"/>
                <a:ea typeface="Calibri"/>
                <a:cs typeface="Calibri"/>
                <a:sym typeface="Calibri"/>
              </a:rPr>
              <a:t>My app/project uses Random Forest Classifier</a:t>
            </a:r>
            <a:endParaRPr sz="2500" b="1">
              <a:solidFill>
                <a:schemeClr val="lt1"/>
              </a:solidFill>
              <a:latin typeface="Calibri"/>
              <a:ea typeface="Calibri"/>
              <a:cs typeface="Calibri"/>
              <a:sym typeface="Calibri"/>
            </a:endParaRPr>
          </a:p>
          <a:p>
            <a:pPr marL="0" marR="0" lvl="0" indent="0" algn="l" rtl="0">
              <a:lnSpc>
                <a:spcPct val="100000"/>
              </a:lnSpc>
              <a:spcBef>
                <a:spcPts val="0"/>
              </a:spcBef>
              <a:spcAft>
                <a:spcPts val="0"/>
              </a:spcAft>
              <a:buNone/>
            </a:pPr>
            <a:r>
              <a:rPr lang="en-IN" sz="2500" b="1">
                <a:solidFill>
                  <a:schemeClr val="lt1"/>
                </a:solidFill>
                <a:latin typeface="Calibri"/>
                <a:ea typeface="Calibri"/>
                <a:cs typeface="Calibri"/>
                <a:sym typeface="Calibri"/>
              </a:rPr>
              <a:t>Model to analyse parameters such as temperature, pressure, humidity and particulate concentrations. Based on these inputs, the application predicts the fire risk level with audio alerts.</a:t>
            </a:r>
            <a:endParaRPr sz="2500" b="1">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7"/>
          <p:cNvSpPr/>
          <p:nvPr/>
        </p:nvSpPr>
        <p:spPr>
          <a:xfrm>
            <a:off x="1609757" y="994336"/>
            <a:ext cx="5760600" cy="936000"/>
          </a:xfrm>
          <a:prstGeom prst="rect">
            <a:avLst/>
          </a:prstGeom>
          <a:solidFill>
            <a:srgbClr val="F1EDA5"/>
          </a:solidFill>
          <a:ln w="25400" cap="flat" cmpd="sng">
            <a:solidFill>
              <a:srgbClr val="F1E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400" b="1" i="0" u="none" strike="noStrike" cap="none">
                <a:solidFill>
                  <a:schemeClr val="dk1"/>
                </a:solidFill>
                <a:latin typeface="Calibri"/>
                <a:ea typeface="Calibri"/>
                <a:cs typeface="Calibri"/>
                <a:sym typeface="Calibri"/>
              </a:rPr>
              <a:t>How </a:t>
            </a:r>
            <a:r>
              <a:rPr lang="en-IN" sz="4400" b="1">
                <a:solidFill>
                  <a:schemeClr val="dk1"/>
                </a:solidFill>
                <a:latin typeface="Calibri"/>
                <a:ea typeface="Calibri"/>
                <a:cs typeface="Calibri"/>
                <a:sym typeface="Calibri"/>
              </a:rPr>
              <a:t>to</a:t>
            </a:r>
            <a:r>
              <a:rPr lang="en-IN" sz="4400" b="1" i="0" u="none" strike="noStrike" cap="none">
                <a:solidFill>
                  <a:schemeClr val="dk1"/>
                </a:solidFill>
                <a:latin typeface="Calibri"/>
                <a:ea typeface="Calibri"/>
                <a:cs typeface="Calibri"/>
                <a:sym typeface="Calibri"/>
              </a:rPr>
              <a:t> use the App?</a:t>
            </a:r>
            <a:endParaRPr/>
          </a:p>
        </p:txBody>
      </p:sp>
      <p:sp>
        <p:nvSpPr>
          <p:cNvPr id="128" name="Google Shape;128;p7"/>
          <p:cNvSpPr txBox="1"/>
          <p:nvPr/>
        </p:nvSpPr>
        <p:spPr>
          <a:xfrm>
            <a:off x="760900" y="2096600"/>
            <a:ext cx="6609600" cy="363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3200">
                <a:solidFill>
                  <a:schemeClr val="lt1"/>
                </a:solidFill>
                <a:latin typeface="Calibri"/>
                <a:ea typeface="Calibri"/>
                <a:cs typeface="Calibri"/>
                <a:sym typeface="Calibri"/>
              </a:rPr>
              <a:t>1) Launch the application.</a:t>
            </a:r>
            <a:endParaRPr sz="3200">
              <a:solidFill>
                <a:schemeClr val="lt1"/>
              </a:solidFill>
              <a:latin typeface="Calibri"/>
              <a:ea typeface="Calibri"/>
              <a:cs typeface="Calibri"/>
              <a:sym typeface="Calibri"/>
            </a:endParaRPr>
          </a:p>
          <a:p>
            <a:pPr marL="0" lvl="0" indent="0" algn="l" rtl="0">
              <a:spcBef>
                <a:spcPts val="0"/>
              </a:spcBef>
              <a:spcAft>
                <a:spcPts val="0"/>
              </a:spcAft>
              <a:buNone/>
            </a:pPr>
            <a:r>
              <a:rPr lang="en-IN" sz="3200">
                <a:solidFill>
                  <a:schemeClr val="lt1"/>
                </a:solidFill>
                <a:latin typeface="Calibri"/>
                <a:ea typeface="Calibri"/>
                <a:cs typeface="Calibri"/>
                <a:sym typeface="Calibri"/>
              </a:rPr>
              <a:t>2)Enter the required sensor values into the input boxes. </a:t>
            </a:r>
            <a:endParaRPr sz="3200">
              <a:solidFill>
                <a:schemeClr val="lt1"/>
              </a:solidFill>
              <a:latin typeface="Calibri"/>
              <a:ea typeface="Calibri"/>
              <a:cs typeface="Calibri"/>
              <a:sym typeface="Calibri"/>
            </a:endParaRPr>
          </a:p>
          <a:p>
            <a:pPr marL="0" lvl="0" indent="0" algn="l" rtl="0">
              <a:spcBef>
                <a:spcPts val="0"/>
              </a:spcBef>
              <a:spcAft>
                <a:spcPts val="0"/>
              </a:spcAft>
              <a:buNone/>
            </a:pPr>
            <a:r>
              <a:rPr lang="en-IN" sz="3200">
                <a:solidFill>
                  <a:schemeClr val="lt1"/>
                </a:solidFill>
                <a:latin typeface="Calibri"/>
                <a:ea typeface="Calibri"/>
                <a:cs typeface="Calibri"/>
                <a:sym typeface="Calibri"/>
              </a:rPr>
              <a:t>3)Click the “Predict Fire Risk” button. </a:t>
            </a:r>
            <a:endParaRPr sz="3200">
              <a:solidFill>
                <a:schemeClr val="lt1"/>
              </a:solidFill>
              <a:latin typeface="Calibri"/>
              <a:ea typeface="Calibri"/>
              <a:cs typeface="Calibri"/>
              <a:sym typeface="Calibri"/>
            </a:endParaRPr>
          </a:p>
          <a:p>
            <a:pPr marL="0" lvl="0" indent="0" algn="l" rtl="0">
              <a:spcBef>
                <a:spcPts val="0"/>
              </a:spcBef>
              <a:spcAft>
                <a:spcPts val="0"/>
              </a:spcAft>
              <a:buNone/>
            </a:pPr>
            <a:r>
              <a:rPr lang="en-IN" sz="3200">
                <a:solidFill>
                  <a:schemeClr val="lt1"/>
                </a:solidFill>
                <a:latin typeface="Calibri"/>
                <a:ea typeface="Calibri"/>
                <a:cs typeface="Calibri"/>
                <a:sym typeface="Calibri"/>
              </a:rPr>
              <a:t>4)Observe the fire risk probability and risk classification.</a:t>
            </a:r>
            <a:endParaRPr sz="3200">
              <a:solidFill>
                <a:schemeClr val="lt1"/>
              </a:solidFill>
              <a:latin typeface="Calibri"/>
              <a:ea typeface="Calibri"/>
              <a:cs typeface="Calibri"/>
              <a:sym typeface="Calibri"/>
            </a:endParaRPr>
          </a:p>
          <a:p>
            <a:pPr marL="0" lvl="0" indent="0" algn="l" rtl="0">
              <a:spcBef>
                <a:spcPts val="0"/>
              </a:spcBef>
              <a:spcAft>
                <a:spcPts val="0"/>
              </a:spcAft>
              <a:buNone/>
            </a:pPr>
            <a:r>
              <a:rPr lang="en-IN" sz="3200">
                <a:solidFill>
                  <a:schemeClr val="lt1"/>
                </a:solidFill>
                <a:latin typeface="Calibri"/>
                <a:ea typeface="Calibri"/>
                <a:cs typeface="Calibri"/>
                <a:sym typeface="Calibri"/>
              </a:rPr>
              <a:t>5)Listen to the generated voice alert.</a:t>
            </a:r>
            <a:endParaRPr sz="32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8"/>
          <p:cNvSpPr/>
          <p:nvPr/>
        </p:nvSpPr>
        <p:spPr>
          <a:xfrm>
            <a:off x="611560" y="140358"/>
            <a:ext cx="7920880" cy="1290871"/>
          </a:xfrm>
          <a:prstGeom prst="rect">
            <a:avLst/>
          </a:prstGeom>
          <a:solidFill>
            <a:srgbClr val="F1EDA5"/>
          </a:solidFill>
          <a:ln w="25400" cap="flat" cmpd="sng">
            <a:solidFill>
              <a:srgbClr val="F1E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400" b="1" i="0" u="none" strike="noStrike" cap="none">
                <a:solidFill>
                  <a:schemeClr val="dk1"/>
                </a:solidFill>
                <a:latin typeface="Calibri"/>
                <a:ea typeface="Calibri"/>
                <a:cs typeface="Calibri"/>
                <a:sym typeface="Calibri"/>
              </a:rPr>
              <a:t>Opt</a:t>
            </a:r>
            <a:r>
              <a:rPr lang="en-IN" sz="4400" b="1">
                <a:solidFill>
                  <a:schemeClr val="dk1"/>
                </a:solidFill>
                <a:latin typeface="Calibri"/>
                <a:ea typeface="Calibri"/>
                <a:cs typeface="Calibri"/>
                <a:sym typeface="Calibri"/>
              </a:rPr>
              <a:t>ions</a:t>
            </a:r>
            <a:endParaRPr/>
          </a:p>
          <a:p>
            <a:pPr marL="0" marR="0" lvl="0" indent="0" algn="l" rtl="0">
              <a:spcBef>
                <a:spcPts val="0"/>
              </a:spcBef>
              <a:spcAft>
                <a:spcPts val="0"/>
              </a:spcAft>
              <a:buNone/>
            </a:pPr>
            <a:endParaRPr/>
          </a:p>
        </p:txBody>
      </p:sp>
      <p:sp>
        <p:nvSpPr>
          <p:cNvPr id="134" name="Google Shape;134;p8"/>
          <p:cNvSpPr txBox="1">
            <a:spLocks noGrp="1"/>
          </p:cNvSpPr>
          <p:nvPr>
            <p:ph type="body" idx="1"/>
          </p:nvPr>
        </p:nvSpPr>
        <p:spPr>
          <a:xfrm>
            <a:off x="457200" y="1600200"/>
            <a:ext cx="3471858" cy="4525963"/>
          </a:xfrm>
          <a:prstGeom prst="rect">
            <a:avLst/>
          </a:prstGeom>
          <a:noFill/>
          <a:ln>
            <a:noFill/>
          </a:ln>
        </p:spPr>
        <p:txBody>
          <a:bodyPr spcFirstLastPara="1" wrap="square" lIns="91425" tIns="45700" rIns="91425" bIns="45700" anchor="t" anchorCtr="0">
            <a:normAutofit/>
          </a:bodyPr>
          <a:lstStyle/>
          <a:p>
            <a:pPr marL="342900" lvl="0" indent="0" algn="l" rtl="0">
              <a:spcBef>
                <a:spcPts val="0"/>
              </a:spcBef>
              <a:spcAft>
                <a:spcPts val="0"/>
              </a:spcAft>
              <a:buNone/>
            </a:pPr>
            <a:r>
              <a:rPr lang="en-IN" sz="2400" b="1" u="sng">
                <a:solidFill>
                  <a:schemeClr val="lt1"/>
                </a:solidFill>
              </a:rPr>
              <a:t>Sensor Input Section </a:t>
            </a:r>
            <a:endParaRPr sz="2400" b="1" u="sng">
              <a:solidFill>
                <a:schemeClr val="lt1"/>
              </a:solidFill>
            </a:endParaRPr>
          </a:p>
          <a:p>
            <a:pPr marL="342900" lvl="0" indent="0" algn="l" rtl="0">
              <a:spcBef>
                <a:spcPts val="0"/>
              </a:spcBef>
              <a:spcAft>
                <a:spcPts val="0"/>
              </a:spcAft>
              <a:buNone/>
            </a:pPr>
            <a:endParaRPr sz="2400" b="1" u="sng">
              <a:solidFill>
                <a:schemeClr val="lt1"/>
              </a:solidFill>
            </a:endParaRPr>
          </a:p>
        </p:txBody>
      </p:sp>
      <p:sp>
        <p:nvSpPr>
          <p:cNvPr id="135" name="Google Shape;135;p8"/>
          <p:cNvSpPr txBox="1"/>
          <p:nvPr/>
        </p:nvSpPr>
        <p:spPr>
          <a:xfrm>
            <a:off x="5272425" y="1600200"/>
            <a:ext cx="3757500" cy="44298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IN" sz="2500" b="1" u="sng">
                <a:solidFill>
                  <a:schemeClr val="lt1"/>
                </a:solidFill>
                <a:latin typeface="Calibri"/>
                <a:ea typeface="Calibri"/>
                <a:cs typeface="Calibri"/>
                <a:sym typeface="Calibri"/>
              </a:rPr>
              <a:t>Prediction Output Screen</a:t>
            </a:r>
            <a:endParaRPr sz="2500" b="1" u="sng">
              <a:solidFill>
                <a:schemeClr val="lt1"/>
              </a:solidFill>
              <a:latin typeface="Calibri"/>
              <a:ea typeface="Calibri"/>
              <a:cs typeface="Calibri"/>
              <a:sym typeface="Calibri"/>
            </a:endParaRPr>
          </a:p>
          <a:p>
            <a:pPr marL="0" marR="0" lvl="0" indent="0" algn="l" rtl="0">
              <a:lnSpc>
                <a:spcPct val="100000"/>
              </a:lnSpc>
              <a:spcBef>
                <a:spcPts val="0"/>
              </a:spcBef>
              <a:spcAft>
                <a:spcPts val="0"/>
              </a:spcAft>
              <a:buNone/>
            </a:pPr>
            <a:r>
              <a:rPr lang="en-IN" sz="2600" b="1" u="sng">
                <a:solidFill>
                  <a:schemeClr val="lt1"/>
                </a:solidFill>
                <a:latin typeface="Calibri"/>
                <a:ea typeface="Calibri"/>
                <a:cs typeface="Calibri"/>
                <a:sym typeface="Calibri"/>
              </a:rPr>
              <a:t> </a:t>
            </a:r>
            <a:endParaRPr sz="2600" b="1" i="0" u="sng" strike="noStrike" cap="none">
              <a:solidFill>
                <a:schemeClr val="lt1"/>
              </a:solidFill>
              <a:latin typeface="Calibri"/>
              <a:ea typeface="Calibri"/>
              <a:cs typeface="Calibri"/>
              <a:sym typeface="Calibri"/>
            </a:endParaRPr>
          </a:p>
        </p:txBody>
      </p:sp>
      <p:sp>
        <p:nvSpPr>
          <p:cNvPr id="136" name="Google Shape;136;p8"/>
          <p:cNvSpPr txBox="1"/>
          <p:nvPr/>
        </p:nvSpPr>
        <p:spPr>
          <a:xfrm>
            <a:off x="129300" y="4804150"/>
            <a:ext cx="4045200" cy="218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2600" b="1">
                <a:solidFill>
                  <a:schemeClr val="lt1"/>
                </a:solidFill>
                <a:latin typeface="Calibri"/>
                <a:ea typeface="Calibri"/>
                <a:cs typeface="Calibri"/>
                <a:sym typeface="Calibri"/>
              </a:rPr>
              <a:t>Here, the user inputs for different parameters.</a:t>
            </a:r>
            <a:endParaRPr sz="2600" b="1">
              <a:solidFill>
                <a:schemeClr val="lt1"/>
              </a:solidFill>
              <a:latin typeface="Calibri"/>
              <a:ea typeface="Calibri"/>
              <a:cs typeface="Calibri"/>
              <a:sym typeface="Calibri"/>
            </a:endParaRPr>
          </a:p>
          <a:p>
            <a:pPr marL="0" lvl="0" indent="0" algn="l" rtl="0">
              <a:spcBef>
                <a:spcPts val="0"/>
              </a:spcBef>
              <a:spcAft>
                <a:spcPts val="0"/>
              </a:spcAft>
              <a:buNone/>
            </a:pPr>
            <a:r>
              <a:rPr lang="en-IN" sz="2600" b="1">
                <a:solidFill>
                  <a:schemeClr val="lt1"/>
                </a:solidFill>
                <a:latin typeface="Calibri"/>
                <a:ea typeface="Calibri"/>
                <a:cs typeface="Calibri"/>
                <a:sym typeface="Calibri"/>
              </a:rPr>
              <a:t>(Note- Ensure all fields contain valid numerical inputs. )</a:t>
            </a:r>
            <a:endParaRPr sz="2600" b="1">
              <a:solidFill>
                <a:schemeClr val="lt1"/>
              </a:solidFill>
              <a:latin typeface="Calibri"/>
              <a:ea typeface="Calibri"/>
              <a:cs typeface="Calibri"/>
              <a:sym typeface="Calibri"/>
            </a:endParaRPr>
          </a:p>
        </p:txBody>
      </p:sp>
      <p:pic>
        <p:nvPicPr>
          <p:cNvPr id="137" name="Google Shape;137;p8"/>
          <p:cNvPicPr preferRelativeResize="0"/>
          <p:nvPr/>
        </p:nvPicPr>
        <p:blipFill>
          <a:blip r:embed="rId3">
            <a:alphaModFix/>
          </a:blip>
          <a:stretch>
            <a:fillRect/>
          </a:stretch>
        </p:blipFill>
        <p:spPr>
          <a:xfrm>
            <a:off x="129300" y="2113200"/>
            <a:ext cx="4442700" cy="2763800"/>
          </a:xfrm>
          <a:prstGeom prst="rect">
            <a:avLst/>
          </a:prstGeom>
          <a:noFill/>
          <a:ln>
            <a:noFill/>
          </a:ln>
        </p:spPr>
      </p:pic>
      <p:pic>
        <p:nvPicPr>
          <p:cNvPr id="138" name="Google Shape;138;p8" title="Output.mp4">
            <a:hlinkClick r:id="rId4"/>
          </p:cNvPr>
          <p:cNvPicPr preferRelativeResize="0"/>
          <p:nvPr/>
        </p:nvPicPr>
        <p:blipFill>
          <a:blip r:embed="rId5">
            <a:alphaModFix/>
          </a:blip>
          <a:stretch>
            <a:fillRect/>
          </a:stretch>
        </p:blipFill>
        <p:spPr>
          <a:xfrm>
            <a:off x="5113950" y="2230275"/>
            <a:ext cx="3685075" cy="2763800"/>
          </a:xfrm>
          <a:prstGeom prst="rect">
            <a:avLst/>
          </a:prstGeom>
          <a:noFill/>
          <a:ln>
            <a:noFill/>
          </a:ln>
        </p:spPr>
      </p:pic>
      <p:sp>
        <p:nvSpPr>
          <p:cNvPr id="139" name="Google Shape;139;p8"/>
          <p:cNvSpPr txBox="1"/>
          <p:nvPr/>
        </p:nvSpPr>
        <p:spPr>
          <a:xfrm>
            <a:off x="5112375" y="5121450"/>
            <a:ext cx="40452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2400" b="1">
                <a:solidFill>
                  <a:schemeClr val="lt1"/>
                </a:solidFill>
                <a:latin typeface="Calibri"/>
                <a:ea typeface="Calibri"/>
                <a:cs typeface="Calibri"/>
                <a:sym typeface="Calibri"/>
              </a:rPr>
              <a:t>Thus, the system predicts fire risk and provides both visual and audio alerts based on environmental sensor inputs. </a:t>
            </a:r>
            <a:endParaRPr sz="2400" b="1">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fade">
                                      <p:cBhvr>
                                        <p:cTn id="7" dur="10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9"/>
          <p:cNvSpPr/>
          <p:nvPr/>
        </p:nvSpPr>
        <p:spPr>
          <a:xfrm>
            <a:off x="1871700" y="847925"/>
            <a:ext cx="5400600" cy="997200"/>
          </a:xfrm>
          <a:prstGeom prst="rect">
            <a:avLst/>
          </a:prstGeom>
          <a:solidFill>
            <a:srgbClr val="F1EDA5"/>
          </a:solidFill>
          <a:ln w="25400" cap="flat" cmpd="sng">
            <a:solidFill>
              <a:srgbClr val="F1E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400" b="1" i="0" u="none" strike="noStrike" cap="none">
                <a:solidFill>
                  <a:schemeClr val="dk1"/>
                </a:solidFill>
                <a:latin typeface="Calibri"/>
                <a:ea typeface="Calibri"/>
                <a:cs typeface="Calibri"/>
                <a:sym typeface="Calibri"/>
              </a:rPr>
              <a:t>Contact Person</a:t>
            </a:r>
            <a:endParaRPr/>
          </a:p>
        </p:txBody>
      </p:sp>
      <p:sp>
        <p:nvSpPr>
          <p:cNvPr id="145" name="Google Shape;145;p9"/>
          <p:cNvSpPr txBox="1">
            <a:spLocks noGrp="1"/>
          </p:cNvSpPr>
          <p:nvPr>
            <p:ph type="body" idx="1"/>
          </p:nvPr>
        </p:nvSpPr>
        <p:spPr>
          <a:xfrm>
            <a:off x="457200" y="2475923"/>
            <a:ext cx="8229600" cy="3650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lt1"/>
              </a:buClr>
              <a:buSzPts val="3200"/>
              <a:buChar char="•"/>
            </a:pPr>
            <a:r>
              <a:rPr lang="en-IN" b="1">
                <a:solidFill>
                  <a:schemeClr val="lt1"/>
                </a:solidFill>
              </a:rPr>
              <a:t>Please reach out to Sivabhargav GV at </a:t>
            </a:r>
            <a:r>
              <a:rPr lang="en-IN" b="1" u="sng">
                <a:solidFill>
                  <a:schemeClr val="hlink"/>
                </a:solidFill>
                <a:hlinkClick r:id="rId3"/>
              </a:rPr>
              <a:t>sivabhargav2008@gmail.com</a:t>
            </a:r>
            <a:r>
              <a:rPr lang="en-IN" b="1">
                <a:solidFill>
                  <a:schemeClr val="lt1"/>
                </a:solidFill>
              </a:rPr>
              <a:t> for any questions/ concerns/ suggestions on the App.</a:t>
            </a:r>
            <a:endParaRPr/>
          </a:p>
          <a:p>
            <a:pPr marL="342900" lvl="0" indent="-342900" algn="l" rtl="0">
              <a:spcBef>
                <a:spcPts val="640"/>
              </a:spcBef>
              <a:spcAft>
                <a:spcPts val="0"/>
              </a:spcAft>
              <a:buClr>
                <a:schemeClr val="dk1"/>
              </a:buClr>
              <a:buSzPts val="3200"/>
              <a:buNone/>
            </a:pPr>
            <a:endParaRPr>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0"/>
          <p:cNvSpPr txBox="1">
            <a:spLocks noGrp="1"/>
          </p:cNvSpPr>
          <p:nvPr>
            <p:ph type="title"/>
          </p:nvPr>
        </p:nvSpPr>
        <p:spPr>
          <a:xfrm>
            <a:off x="2742076" y="2786058"/>
            <a:ext cx="4258816" cy="1143000"/>
          </a:xfrm>
          <a:prstGeom prst="rect">
            <a:avLst/>
          </a:prstGeom>
          <a:solidFill>
            <a:srgbClr val="F1EDA5"/>
          </a:solid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IN" b="1"/>
              <a:t>Thank you!</a:t>
            </a:r>
            <a:endParaRPr b="1"/>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476</Words>
  <Application>Microsoft Office PowerPoint</Application>
  <PresentationFormat>On-screen Show (4:3)</PresentationFormat>
  <Paragraphs>48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Smita</dc:creator>
  <cp:lastModifiedBy>SIVABHARGAV G.V</cp:lastModifiedBy>
  <cp:revision>1</cp:revision>
  <dcterms:created xsi:type="dcterms:W3CDTF">2021-09-17T13:31:27Z</dcterms:created>
  <dcterms:modified xsi:type="dcterms:W3CDTF">2026-10-07T18:26:45Z</dcterms:modified>
</cp:coreProperties>
</file>